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0"/>
  </p:handoutMasterIdLst>
  <p:sldIdLst>
    <p:sldId id="256" r:id="rId2"/>
    <p:sldId id="257" r:id="rId3"/>
    <p:sldId id="258" r:id="rId4"/>
    <p:sldId id="259" r:id="rId5"/>
    <p:sldId id="262" r:id="rId6"/>
    <p:sldId id="260" r:id="rId7"/>
    <p:sldId id="261" r:id="rId8"/>
    <p:sldId id="263" r:id="rId9"/>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9" userDrawn="1">
          <p15:clr>
            <a:srgbClr val="A4A3A4"/>
          </p15:clr>
        </p15:guide>
        <p15:guide id="2" pos="3840" userDrawn="1">
          <p15:clr>
            <a:srgbClr val="A4A3A4"/>
          </p15:clr>
        </p15:guide>
        <p15:guide id="3" orient="horz" pos="4088" userDrawn="1">
          <p15:clr>
            <a:srgbClr val="A4A3A4"/>
          </p15:clr>
        </p15:guide>
        <p15:guide id="4" pos="325" userDrawn="1">
          <p15:clr>
            <a:srgbClr val="A4A3A4"/>
          </p15:clr>
        </p15:guide>
        <p15:guide id="5" pos="7355" userDrawn="1">
          <p15:clr>
            <a:srgbClr val="A4A3A4"/>
          </p15:clr>
        </p15:guide>
        <p15:guide id="6" orient="horz" pos="2387" userDrawn="1">
          <p15:clr>
            <a:srgbClr val="A4A3A4"/>
          </p15:clr>
        </p15:guide>
        <p15:guide id="7" orient="horz" pos="572" userDrawn="1">
          <p15:clr>
            <a:srgbClr val="A4A3A4"/>
          </p15:clr>
        </p15:guide>
        <p15:guide id="8" orient="horz" pos="799" userDrawn="1">
          <p15:clr>
            <a:srgbClr val="A4A3A4"/>
          </p15:clr>
        </p15:guide>
        <p15:guide id="9" orient="horz" pos="913" userDrawn="1">
          <p15:clr>
            <a:srgbClr val="A4A3A4"/>
          </p15:clr>
        </p15:guide>
        <p15:guide id="10" orient="horz" pos="39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6" autoAdjust="0"/>
    <p:restoredTop sz="94652" autoAdjust="0"/>
  </p:normalViewPr>
  <p:slideViewPr>
    <p:cSldViewPr snapToGrid="0">
      <p:cViewPr varScale="1">
        <p:scale>
          <a:sx n="77" d="100"/>
          <a:sy n="77" d="100"/>
        </p:scale>
        <p:origin x="114" y="582"/>
      </p:cViewPr>
      <p:guideLst>
        <p:guide orient="horz" pos="459"/>
        <p:guide pos="3840"/>
        <p:guide orient="horz" pos="4088"/>
        <p:guide pos="325"/>
        <p:guide pos="7355"/>
        <p:guide orient="horz" pos="2387"/>
        <p:guide orient="horz" pos="572"/>
        <p:guide orient="horz" pos="799"/>
        <p:guide orient="horz" pos="913"/>
        <p:guide orient="horz" pos="397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07" d="100"/>
          <a:sy n="107" d="100"/>
        </p:scale>
        <p:origin x="379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632080B-9404-F770-ADDB-C4E7C359BE38}"/>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0A6E649C-F4C3-8DEA-3C8D-C175167F9A3A}"/>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AEAE3931-34C6-44E4-98B2-7F18B511B470}" type="datetimeFigureOut">
              <a:rPr lang="ko-KR" altLang="en-US" smtClean="0"/>
              <a:t>2026-03-27</a:t>
            </a:fld>
            <a:endParaRPr lang="ko-KR" altLang="en-US"/>
          </a:p>
        </p:txBody>
      </p:sp>
      <p:sp>
        <p:nvSpPr>
          <p:cNvPr id="4" name="바닥글 개체 틀 3">
            <a:extLst>
              <a:ext uri="{FF2B5EF4-FFF2-40B4-BE49-F238E27FC236}">
                <a16:creationId xmlns:a16="http://schemas.microsoft.com/office/drawing/2014/main" id="{BFA46798-7761-B4D1-D8C4-3B0ADBAA71BF}"/>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9AB9545E-D4CF-D27F-DE23-D5E57E738504}"/>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8032C609-5983-4D4C-ACEB-B1E8F32830AE}" type="slidenum">
              <a:rPr lang="ko-KR" altLang="en-US" smtClean="0"/>
              <a:t>‹#›</a:t>
            </a:fld>
            <a:endParaRPr lang="ko-KR" altLang="en-US"/>
          </a:p>
        </p:txBody>
      </p:sp>
    </p:spTree>
    <p:extLst>
      <p:ext uri="{BB962C8B-B14F-4D97-AF65-F5344CB8AC3E}">
        <p14:creationId xmlns:p14="http://schemas.microsoft.com/office/powerpoint/2010/main" val="309409611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7" userDrawn="1">
          <p15:clr>
            <a:srgbClr val="F26B43"/>
          </p15:clr>
        </p15:guide>
        <p15:guide id="2" pos="2141" userDrawn="1">
          <p15:clr>
            <a:srgbClr val="F26B43"/>
          </p15:clr>
        </p15:guide>
      </p15:sldGuideLst>
    </p:ext>
  </p:extLst>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68EB6B-72DE-A9DF-E821-EF70E1EBE4B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078981DE-60E2-731C-E98D-E857E69D7E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4F3669A-22B5-7069-E4DC-AE3061952FBA}"/>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5" name="바닥글 개체 틀 4">
            <a:extLst>
              <a:ext uri="{FF2B5EF4-FFF2-40B4-BE49-F238E27FC236}">
                <a16:creationId xmlns:a16="http://schemas.microsoft.com/office/drawing/2014/main" id="{1EDE04E6-6ECD-0F84-CEE4-6A5B3095A52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FD10D21-B697-202E-253D-24C1C314A318}"/>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1460150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AC018D-D3BE-3D8F-9D12-E811F69569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395F001-52EF-6848-2373-C7AE9710594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C3F9708-B53F-9003-2E1F-7741707D274D}"/>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5" name="바닥글 개체 틀 4">
            <a:extLst>
              <a:ext uri="{FF2B5EF4-FFF2-40B4-BE49-F238E27FC236}">
                <a16:creationId xmlns:a16="http://schemas.microsoft.com/office/drawing/2014/main" id="{514D183F-D42C-814A-626D-FCEA635EF40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268CFD-39F5-9A7C-369C-8F9D9F7FB199}"/>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1513553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60A480-330E-C72B-E736-BAA07A52AA3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40E07D7-A5D7-10D0-E644-E8AF4445C5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3F6324D8-A023-9D4B-DB1C-86BD685134FA}"/>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5" name="바닥글 개체 틀 4">
            <a:extLst>
              <a:ext uri="{FF2B5EF4-FFF2-40B4-BE49-F238E27FC236}">
                <a16:creationId xmlns:a16="http://schemas.microsoft.com/office/drawing/2014/main" id="{660864CE-2D74-4E39-EB1E-265E496D6B3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8E4F676-D5E8-4A85-FD68-26E26E29F641}"/>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403826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E8CBB1B-7F65-2B6D-F96F-D0B356C2E9B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8CA636F-DD61-1C78-9E8A-79B71D4A278D}"/>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A7995CB-882F-618C-B6ED-A9262C4273F2}"/>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CA5BBBC7-504A-FF33-8938-75A5378C6D52}"/>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6" name="바닥글 개체 틀 5">
            <a:extLst>
              <a:ext uri="{FF2B5EF4-FFF2-40B4-BE49-F238E27FC236}">
                <a16:creationId xmlns:a16="http://schemas.microsoft.com/office/drawing/2014/main" id="{CFCE73C5-B89C-2AE0-184F-37D55CE52A2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010733C-0DC1-8271-4CC8-3D5349E539A6}"/>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2136823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7D88A7-10EE-CA87-1B01-91752655784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A776A0A-18D3-3368-7D96-E7A0CA824D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0A080E7-BCEF-1CAF-993A-B08910D7AE4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4CF6AFA-69F1-FAE0-0690-79654701E3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0D2F5207-A544-EBCF-073C-F301F548F5C7}"/>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9276BF0-B343-0C15-696D-8209CABF55AD}"/>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8" name="바닥글 개체 틀 7">
            <a:extLst>
              <a:ext uri="{FF2B5EF4-FFF2-40B4-BE49-F238E27FC236}">
                <a16:creationId xmlns:a16="http://schemas.microsoft.com/office/drawing/2014/main" id="{5412C645-FD87-E74A-2879-16F5ACDC3F16}"/>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5B6FA590-25BA-C447-C389-A0D768CF0D3A}"/>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3722937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E6D4B3-A038-1A10-9623-F188BC9BAB6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237EB88D-FA06-28ED-6A46-6705ADC13ADE}"/>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4" name="바닥글 개체 틀 3">
            <a:extLst>
              <a:ext uri="{FF2B5EF4-FFF2-40B4-BE49-F238E27FC236}">
                <a16:creationId xmlns:a16="http://schemas.microsoft.com/office/drawing/2014/main" id="{31CAD64D-9D72-98F9-63A6-FAD511B2BBAF}"/>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D8F8278-6EEB-F8C9-8BA0-582FD7125A0B}"/>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3096319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87F6280-EB88-CDE5-0F59-01EDCCB1C93B}"/>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3" name="바닥글 개체 틀 2">
            <a:extLst>
              <a:ext uri="{FF2B5EF4-FFF2-40B4-BE49-F238E27FC236}">
                <a16:creationId xmlns:a16="http://schemas.microsoft.com/office/drawing/2014/main" id="{285BD149-A86D-1B58-9345-16B385A60D3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F017CB8-7A3F-D5AA-B7B9-B59855770AB4}"/>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2650058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1AD85D-E5E0-3A6A-0F71-74452EB520B7}"/>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6DD28D4-7AD7-DFE3-F766-814CA1DE34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6A4B299F-DA95-51ED-4BE2-65B601821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170278D-1205-B8CD-C556-87A646BAB379}"/>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6" name="바닥글 개체 틀 5">
            <a:extLst>
              <a:ext uri="{FF2B5EF4-FFF2-40B4-BE49-F238E27FC236}">
                <a16:creationId xmlns:a16="http://schemas.microsoft.com/office/drawing/2014/main" id="{A51761A2-EE1B-BDB9-6FF3-F51F452E403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F0844EC-7C59-A05C-CAA5-C8206446EFC4}"/>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3000930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EE6DD5-62B5-EDD0-01F0-1C425D9D310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502C1E38-FABC-F0BD-8228-17EBB29DBB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CBCEC4E-B059-DA24-BA94-549D057FC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B9890C4-19F6-061C-8CCD-8E9B4904418A}"/>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6" name="바닥글 개체 틀 5">
            <a:extLst>
              <a:ext uri="{FF2B5EF4-FFF2-40B4-BE49-F238E27FC236}">
                <a16:creationId xmlns:a16="http://schemas.microsoft.com/office/drawing/2014/main" id="{A42FB346-9526-58FC-D0D2-011A187A8D9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4916B68-249B-74B4-7587-0887C63B2B00}"/>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1284248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424DB7-BCF1-DE9A-BDFF-5E7771A4E6A3}"/>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DEBEF64-3D49-E209-6255-FD8301DE6F2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084EF42-C969-397A-6874-0C49C6470014}"/>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5" name="바닥글 개체 틀 4">
            <a:extLst>
              <a:ext uri="{FF2B5EF4-FFF2-40B4-BE49-F238E27FC236}">
                <a16:creationId xmlns:a16="http://schemas.microsoft.com/office/drawing/2014/main" id="{7DAFC7A2-9366-8BAE-8078-D15EC1B7E47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EBBFA3E-79FF-E2AC-17D2-354E7A407E42}"/>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1090452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3C83-51CF-DF27-70E8-83B36BFCA3B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02177D0-BB25-AEA9-53F0-7D489AD02F0C}"/>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4D69AC-5348-351E-F906-596924CD82D4}"/>
              </a:ext>
            </a:extLst>
          </p:cNvPr>
          <p:cNvSpPr>
            <a:spLocks noGrp="1"/>
          </p:cNvSpPr>
          <p:nvPr>
            <p:ph type="dt" sz="half" idx="10"/>
          </p:nvPr>
        </p:nvSpPr>
        <p:spPr/>
        <p:txBody>
          <a:bodyPr/>
          <a:lstStyle/>
          <a:p>
            <a:fld id="{71E102BF-589F-485F-9C56-601E039F8F29}" type="datetimeFigureOut">
              <a:rPr lang="ko-KR" altLang="en-US" smtClean="0"/>
              <a:t>2026-03-27</a:t>
            </a:fld>
            <a:endParaRPr lang="ko-KR" altLang="en-US"/>
          </a:p>
        </p:txBody>
      </p:sp>
      <p:sp>
        <p:nvSpPr>
          <p:cNvPr id="5" name="바닥글 개체 틀 4">
            <a:extLst>
              <a:ext uri="{FF2B5EF4-FFF2-40B4-BE49-F238E27FC236}">
                <a16:creationId xmlns:a16="http://schemas.microsoft.com/office/drawing/2014/main" id="{029B1AA9-ECEA-20FC-05EC-4E2C9FB1D2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ADAE371-FC1A-3746-AE13-36FA4B56CB7C}"/>
              </a:ext>
            </a:extLst>
          </p:cNvPr>
          <p:cNvSpPr>
            <a:spLocks noGrp="1"/>
          </p:cNvSpPr>
          <p:nvPr>
            <p:ph type="sldNum" sz="quarter" idx="12"/>
          </p:nvPr>
        </p:nvSpPr>
        <p:spPr/>
        <p:txBody>
          <a:body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3503028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493832F-6E4D-3251-AF55-3CA3B08838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52F8615-4E8D-394E-3DEF-25D95D84CC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D78B51A-22EF-EB6D-C090-AE166C00EA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102BF-589F-485F-9C56-601E039F8F29}" type="datetimeFigureOut">
              <a:rPr lang="ko-KR" altLang="en-US" smtClean="0"/>
              <a:t>2026-03-27</a:t>
            </a:fld>
            <a:endParaRPr lang="ko-KR" altLang="en-US"/>
          </a:p>
        </p:txBody>
      </p:sp>
      <p:sp>
        <p:nvSpPr>
          <p:cNvPr id="5" name="바닥글 개체 틀 4">
            <a:extLst>
              <a:ext uri="{FF2B5EF4-FFF2-40B4-BE49-F238E27FC236}">
                <a16:creationId xmlns:a16="http://schemas.microsoft.com/office/drawing/2014/main" id="{131BD6E6-25AE-4924-0C9C-9CE828A408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18C4391-FEFE-276D-739F-0326712D76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50051F-4CD2-466C-92FA-CA6A332F8E6A}" type="slidenum">
              <a:rPr lang="ko-KR" altLang="en-US" smtClean="0"/>
              <a:t>‹#›</a:t>
            </a:fld>
            <a:endParaRPr lang="ko-KR" altLang="en-US"/>
          </a:p>
        </p:txBody>
      </p:sp>
    </p:spTree>
    <p:extLst>
      <p:ext uri="{BB962C8B-B14F-4D97-AF65-F5344CB8AC3E}">
        <p14:creationId xmlns:p14="http://schemas.microsoft.com/office/powerpoint/2010/main" val="3096695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118A6138-F8F5-4DE7-8936-0A7E20241DA0}"/>
              </a:ext>
            </a:extLst>
          </p:cNvPr>
          <p:cNvSpPr>
            <a:spLocks noGrp="1"/>
          </p:cNvSpPr>
          <p:nvPr>
            <p:ph type="ctrTitle"/>
          </p:nvPr>
        </p:nvSpPr>
        <p:spPr>
          <a:xfrm>
            <a:off x="515938" y="762000"/>
            <a:ext cx="11160123" cy="3027363"/>
          </a:xfrm>
        </p:spPr>
        <p:txBody>
          <a:bodyPr anchor="ctr">
            <a:normAutofit/>
          </a:bodyPr>
          <a:lstStyle/>
          <a:p>
            <a:r>
              <a:rPr lang="en-US" altLang="ko-KR" sz="4400" dirty="0">
                <a:latin typeface="MS UI Gothic" panose="020B0600070205080204" pitchFamily="34" charset="-128"/>
                <a:ea typeface="MS UI Gothic" panose="020B0600070205080204" pitchFamily="34" charset="-128"/>
              </a:rPr>
              <a:t>BUSINESS</a:t>
            </a:r>
            <a:r>
              <a:rPr lang="ko-KR" altLang="en-US" sz="4400" dirty="0">
                <a:latin typeface="MS UI Gothic" panose="020B0600070205080204" pitchFamily="34" charset="-128"/>
              </a:rPr>
              <a:t> </a:t>
            </a:r>
            <a:r>
              <a:rPr lang="en-US" altLang="ko-KR" sz="4400" dirty="0">
                <a:latin typeface="MS UI Gothic" panose="020B0600070205080204" pitchFamily="34" charset="-128"/>
                <a:ea typeface="MS UI Gothic" panose="020B0600070205080204" pitchFamily="34" charset="-128"/>
              </a:rPr>
              <a:t>PLAN</a:t>
            </a:r>
            <a:r>
              <a:rPr lang="ko-KR" altLang="en-US" sz="4400" dirty="0">
                <a:latin typeface="MS UI Gothic" panose="020B0600070205080204" pitchFamily="34" charset="-128"/>
              </a:rPr>
              <a:t> </a:t>
            </a:r>
            <a:r>
              <a:rPr lang="en-US" altLang="ko-KR" sz="4400" dirty="0">
                <a:latin typeface="MS UI Gothic" panose="020B0600070205080204" pitchFamily="34" charset="-128"/>
                <a:ea typeface="MS UI Gothic" panose="020B0600070205080204" pitchFamily="34" charset="-128"/>
              </a:rPr>
              <a:t>for</a:t>
            </a:r>
            <a:r>
              <a:rPr lang="ko-KR" altLang="en-US" sz="4400" dirty="0">
                <a:latin typeface="MS UI Gothic" panose="020B0600070205080204" pitchFamily="34" charset="-128"/>
              </a:rPr>
              <a:t> </a:t>
            </a:r>
            <a:r>
              <a:rPr lang="en-US" altLang="ko-KR" sz="4400" dirty="0">
                <a:latin typeface="MS UI Gothic" panose="020B0600070205080204" pitchFamily="34" charset="-128"/>
                <a:ea typeface="MS UI Gothic" panose="020B0600070205080204" pitchFamily="34" charset="-128"/>
              </a:rPr>
              <a:t>OSRND</a:t>
            </a:r>
            <a:r>
              <a:rPr lang="ko-KR" altLang="en-US" sz="4400" dirty="0">
                <a:latin typeface="MS UI Gothic" panose="020B0600070205080204" pitchFamily="34" charset="-128"/>
              </a:rPr>
              <a:t> </a:t>
            </a:r>
            <a:r>
              <a:rPr lang="en-US" altLang="ko-KR" sz="4400" dirty="0">
                <a:latin typeface="MS UI Gothic" panose="020B0600070205080204" pitchFamily="34" charset="-128"/>
                <a:ea typeface="MS UI Gothic" panose="020B0600070205080204" pitchFamily="34" charset="-128"/>
              </a:rPr>
              <a:t>USA,</a:t>
            </a:r>
            <a:r>
              <a:rPr lang="ko-KR" altLang="en-US" sz="4400" dirty="0">
                <a:latin typeface="MS UI Gothic" panose="020B0600070205080204" pitchFamily="34" charset="-128"/>
              </a:rPr>
              <a:t> </a:t>
            </a:r>
            <a:r>
              <a:rPr lang="en-US" altLang="ko-KR" sz="4400" dirty="0">
                <a:latin typeface="MS UI Gothic" panose="020B0600070205080204" pitchFamily="34" charset="-128"/>
                <a:ea typeface="MS UI Gothic" panose="020B0600070205080204" pitchFamily="34" charset="-128"/>
              </a:rPr>
              <a:t>INC</a:t>
            </a:r>
            <a:endParaRPr lang="ko-KR" altLang="en-US" sz="4400" dirty="0">
              <a:latin typeface="MS UI Gothic" panose="020B0600070205080204" pitchFamily="34" charset="-128"/>
            </a:endParaRPr>
          </a:p>
        </p:txBody>
      </p:sp>
      <p:sp>
        <p:nvSpPr>
          <p:cNvPr id="6" name="부제목 5">
            <a:extLst>
              <a:ext uri="{FF2B5EF4-FFF2-40B4-BE49-F238E27FC236}">
                <a16:creationId xmlns:a16="http://schemas.microsoft.com/office/drawing/2014/main" id="{60BBA360-D0DC-FB91-3F11-16B6656CB95B}"/>
              </a:ext>
            </a:extLst>
          </p:cNvPr>
          <p:cNvSpPr>
            <a:spLocks noGrp="1"/>
          </p:cNvSpPr>
          <p:nvPr>
            <p:ph type="subTitle" idx="1"/>
          </p:nvPr>
        </p:nvSpPr>
        <p:spPr>
          <a:xfrm>
            <a:off x="515937" y="3789362"/>
            <a:ext cx="11160125" cy="2700338"/>
          </a:xfrm>
        </p:spPr>
        <p:txBody>
          <a:bodyPr anchor="ctr"/>
          <a:lstStyle/>
          <a:p>
            <a:r>
              <a:rPr lang="en-US" altLang="ko-KR" dirty="0">
                <a:latin typeface="MS UI Gothic" panose="020B0600070205080204" pitchFamily="34" charset="-128"/>
                <a:ea typeface="MS UI Gothic" panose="020B0600070205080204" pitchFamily="34" charset="-128"/>
              </a:rPr>
              <a:t>07 / 28 / 2025</a:t>
            </a:r>
            <a:endParaRPr lang="ko-KR" altLang="en-US" dirty="0">
              <a:latin typeface="MS UI Gothic" panose="020B0600070205080204" pitchFamily="34" charset="-128"/>
            </a:endParaRPr>
          </a:p>
        </p:txBody>
      </p:sp>
      <p:graphicFrame>
        <p:nvGraphicFramePr>
          <p:cNvPr id="10" name="표 9">
            <a:extLst>
              <a:ext uri="{FF2B5EF4-FFF2-40B4-BE49-F238E27FC236}">
                <a16:creationId xmlns:a16="http://schemas.microsoft.com/office/drawing/2014/main" id="{9FE25825-7E72-E0FF-FFC7-B7940E594278}"/>
              </a:ext>
            </a:extLst>
          </p:cNvPr>
          <p:cNvGraphicFramePr>
            <a:graphicFrameLocks noGrp="1"/>
          </p:cNvGraphicFramePr>
          <p:nvPr>
            <p:extLst>
              <p:ext uri="{D42A27DB-BD31-4B8C-83A1-F6EECF244321}">
                <p14:modId xmlns:p14="http://schemas.microsoft.com/office/powerpoint/2010/main" val="2980725364"/>
              </p:ext>
            </p:extLst>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11" name="그림 10">
            <a:extLst>
              <a:ext uri="{FF2B5EF4-FFF2-40B4-BE49-F238E27FC236}">
                <a16:creationId xmlns:a16="http://schemas.microsoft.com/office/drawing/2014/main" id="{788D94C3-E948-7F07-9AE5-B18EC6FFD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spTree>
    <p:extLst>
      <p:ext uri="{BB962C8B-B14F-4D97-AF65-F5344CB8AC3E}">
        <p14:creationId xmlns:p14="http://schemas.microsoft.com/office/powerpoint/2010/main" val="2252496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998C2D07-938B-12E9-E8B7-40517B890A32}"/>
              </a:ext>
            </a:extLst>
          </p:cNvPr>
          <p:cNvGraphicFramePr>
            <a:graphicFrameLocks noGrp="1"/>
          </p:cNvGraphicFramePr>
          <p:nvPr>
            <p:extLst>
              <p:ext uri="{D42A27DB-BD31-4B8C-83A1-F6EECF244321}">
                <p14:modId xmlns:p14="http://schemas.microsoft.com/office/powerpoint/2010/main" val="679223086"/>
              </p:ext>
            </p:extLst>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32581128-5A92-2B04-A590-889EA42DCB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5DD0C4A1-0AA1-E911-F6A8-6C3155679AB9}"/>
              </a:ext>
            </a:extLst>
          </p:cNvPr>
          <p:cNvGraphicFramePr>
            <a:graphicFrameLocks noGrp="1"/>
          </p:cNvGraphicFramePr>
          <p:nvPr>
            <p:extLst>
              <p:ext uri="{D42A27DB-BD31-4B8C-83A1-F6EECF244321}">
                <p14:modId xmlns:p14="http://schemas.microsoft.com/office/powerpoint/2010/main" val="4292566688"/>
              </p:ext>
            </p:extLst>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sp>
        <p:nvSpPr>
          <p:cNvPr id="6" name="직사각형 5">
            <a:extLst>
              <a:ext uri="{FF2B5EF4-FFF2-40B4-BE49-F238E27FC236}">
                <a16:creationId xmlns:a16="http://schemas.microsoft.com/office/drawing/2014/main" id="{47C093E0-2429-9A85-06FF-8541D5D344E2}"/>
              </a:ext>
            </a:extLst>
          </p:cNvPr>
          <p:cNvSpPr/>
          <p:nvPr/>
        </p:nvSpPr>
        <p:spPr>
          <a:xfrm>
            <a:off x="515938" y="1449387"/>
            <a:ext cx="11160125" cy="4859337"/>
          </a:xfrm>
          <a:prstGeom prst="rect">
            <a:avLst/>
          </a:prstGeom>
          <a:solidFill>
            <a:schemeClr val="accent1">
              <a:lumMod val="20000"/>
              <a:lumOff val="8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t"/>
          <a:lstStyle/>
          <a:p>
            <a:pPr marL="285750" indent="-285750">
              <a:buFont typeface="Wingdings" panose="05000000000000000000" pitchFamily="2" charset="2"/>
              <a:buChar char="v"/>
            </a:pPr>
            <a:r>
              <a:rPr lang="ko-KR" altLang="en-US" sz="1400" dirty="0" err="1">
                <a:solidFill>
                  <a:schemeClr val="tx1"/>
                </a:solidFill>
              </a:rPr>
              <a:t>법인명</a:t>
            </a:r>
            <a:r>
              <a:rPr lang="ko-KR" altLang="en-US" sz="1400" dirty="0">
                <a:solidFill>
                  <a:schemeClr val="tx1"/>
                </a:solidFill>
              </a:rPr>
              <a:t> </a:t>
            </a:r>
            <a:r>
              <a:rPr lang="en-US" altLang="ko-KR" sz="1400" dirty="0">
                <a:solidFill>
                  <a:schemeClr val="tx1"/>
                </a:solidFill>
              </a:rPr>
              <a:t>:</a:t>
            </a:r>
          </a:p>
          <a:p>
            <a:pPr marL="742950" lvl="1" indent="-285750">
              <a:buFont typeface="Arial" panose="020B0604020202020204" pitchFamily="34" charset="0"/>
              <a:buChar char="•"/>
            </a:pPr>
            <a:r>
              <a:rPr lang="en-US" altLang="ko-KR" sz="1400" dirty="0">
                <a:solidFill>
                  <a:schemeClr val="tx1"/>
                </a:solidFill>
              </a:rPr>
              <a:t>OSRND USA, INC</a:t>
            </a:r>
          </a:p>
          <a:p>
            <a:pPr marL="742950" lvl="1" indent="-285750">
              <a:buFont typeface="Arial" panose="020B0604020202020204" pitchFamily="34" charset="0"/>
              <a:buChar char="•"/>
            </a:pPr>
            <a:endParaRPr lang="en-US" altLang="ko-KR" sz="1400" dirty="0">
              <a:solidFill>
                <a:schemeClr val="tx1"/>
              </a:solidFill>
            </a:endParaRPr>
          </a:p>
          <a:p>
            <a:pPr marL="285750" indent="-285750">
              <a:buFont typeface="Wingdings" panose="05000000000000000000" pitchFamily="2" charset="2"/>
              <a:buChar char="v"/>
            </a:pPr>
            <a:r>
              <a:rPr lang="ko-KR" altLang="en-US" sz="1400" dirty="0">
                <a:solidFill>
                  <a:schemeClr val="tx1"/>
                </a:solidFill>
              </a:rPr>
              <a:t>설립 목적 </a:t>
            </a:r>
            <a:r>
              <a:rPr lang="en-US" altLang="ko-KR" sz="1400" dirty="0">
                <a:solidFill>
                  <a:schemeClr val="tx1"/>
                </a:solidFill>
              </a:rPr>
              <a:t>:</a:t>
            </a:r>
          </a:p>
          <a:p>
            <a:pPr marL="742950" lvl="1" indent="-285750">
              <a:buFont typeface="Arial" panose="020B0604020202020204" pitchFamily="34" charset="0"/>
              <a:buChar char="•"/>
            </a:pPr>
            <a:r>
              <a:rPr lang="en-US" altLang="ko-KR" sz="1400" dirty="0">
                <a:solidFill>
                  <a:schemeClr val="tx1"/>
                </a:solidFill>
              </a:rPr>
              <a:t>OSRND USA, INC</a:t>
            </a:r>
            <a:r>
              <a:rPr lang="ko-KR" altLang="en-US" sz="1400" dirty="0">
                <a:solidFill>
                  <a:schemeClr val="tx1"/>
                </a:solidFill>
              </a:rPr>
              <a:t>는 미국 내에서 활동 중인 한국 고객사들을 위한 기술 지원 및 솔루션 제공을 지속적이고 고도화된 방식으로 수행하기 위해 설립됩니다</a:t>
            </a:r>
            <a:r>
              <a:rPr lang="en-US" altLang="ko-KR" sz="1400" dirty="0">
                <a:solidFill>
                  <a:schemeClr val="tx1"/>
                </a:solidFill>
              </a:rPr>
              <a:t>.</a:t>
            </a:r>
          </a:p>
          <a:p>
            <a:pPr marL="742950" lvl="1" indent="-285750">
              <a:buFont typeface="Arial" panose="020B0604020202020204" pitchFamily="34" charset="0"/>
              <a:buChar char="•"/>
            </a:pPr>
            <a:r>
              <a:rPr lang="ko-KR" altLang="en-US" sz="1400" dirty="0">
                <a:solidFill>
                  <a:schemeClr val="tx1"/>
                </a:solidFill>
              </a:rPr>
              <a:t>고객의 현지 운영 니즈에 맞춘 전문적이고 유연한 기술 서비스를 제공하는 것을 주목적으로 합니다</a:t>
            </a:r>
            <a:r>
              <a:rPr lang="en-US" altLang="ko-KR" sz="1400" dirty="0">
                <a:solidFill>
                  <a:schemeClr val="tx1"/>
                </a:solidFill>
              </a:rPr>
              <a:t>.</a:t>
            </a:r>
          </a:p>
          <a:p>
            <a:pPr marL="742950" lvl="1" indent="-285750">
              <a:buFont typeface="Arial" panose="020B0604020202020204" pitchFamily="34" charset="0"/>
              <a:buChar char="•"/>
            </a:pPr>
            <a:endParaRPr lang="en-US" altLang="ko-KR" sz="1400" dirty="0">
              <a:solidFill>
                <a:schemeClr val="tx1"/>
              </a:solidFill>
            </a:endParaRPr>
          </a:p>
          <a:p>
            <a:pPr marL="285750" indent="-285750">
              <a:buFont typeface="Wingdings" panose="05000000000000000000" pitchFamily="2" charset="2"/>
              <a:buChar char="v"/>
            </a:pPr>
            <a:r>
              <a:rPr lang="ko-KR" altLang="en-US" sz="1400" dirty="0">
                <a:solidFill>
                  <a:schemeClr val="tx1"/>
                </a:solidFill>
              </a:rPr>
              <a:t>핵심 목표 </a:t>
            </a:r>
            <a:r>
              <a:rPr lang="en-US" altLang="ko-KR" sz="1400" dirty="0">
                <a:solidFill>
                  <a:schemeClr val="tx1"/>
                </a:solidFill>
              </a:rPr>
              <a:t>:</a:t>
            </a:r>
          </a:p>
          <a:p>
            <a:pPr marL="742950" lvl="1" indent="-285750">
              <a:buFont typeface="Arial" panose="020B0604020202020204" pitchFamily="34" charset="0"/>
              <a:buChar char="•"/>
            </a:pPr>
            <a:r>
              <a:rPr lang="ko-KR" altLang="en-US" sz="1400" dirty="0">
                <a:solidFill>
                  <a:schemeClr val="tx1"/>
                </a:solidFill>
              </a:rPr>
              <a:t>설립 후 </a:t>
            </a:r>
            <a:r>
              <a:rPr lang="en-US" altLang="ko-KR" sz="1400" dirty="0">
                <a:solidFill>
                  <a:schemeClr val="tx1"/>
                </a:solidFill>
              </a:rPr>
              <a:t>3</a:t>
            </a:r>
            <a:r>
              <a:rPr lang="ko-KR" altLang="en-US" sz="1400" dirty="0">
                <a:solidFill>
                  <a:schemeClr val="tx1"/>
                </a:solidFill>
              </a:rPr>
              <a:t>년 내 기술 인력을 완전 현지화 하여</a:t>
            </a:r>
            <a:r>
              <a:rPr lang="en-US" altLang="ko-KR" sz="1400" dirty="0">
                <a:solidFill>
                  <a:schemeClr val="tx1"/>
                </a:solidFill>
              </a:rPr>
              <a:t>, </a:t>
            </a:r>
            <a:r>
              <a:rPr lang="ko-KR" altLang="en-US" sz="1400" dirty="0">
                <a:solidFill>
                  <a:schemeClr val="tx1"/>
                </a:solidFill>
              </a:rPr>
              <a:t>한국 인력에 대한 의존도를 낮추는 것을 목표로 합니다</a:t>
            </a:r>
            <a:r>
              <a:rPr lang="en-US" altLang="ko-KR" sz="1400" dirty="0">
                <a:solidFill>
                  <a:schemeClr val="tx1"/>
                </a:solidFill>
              </a:rPr>
              <a:t>.</a:t>
            </a:r>
          </a:p>
          <a:p>
            <a:pPr marL="742950" lvl="1" indent="-285750">
              <a:buFont typeface="Arial" panose="020B0604020202020204" pitchFamily="34" charset="0"/>
              <a:buChar char="•"/>
            </a:pPr>
            <a:r>
              <a:rPr lang="en-US" altLang="ko-KR" sz="1400" dirty="0">
                <a:solidFill>
                  <a:schemeClr val="tx1"/>
                </a:solidFill>
              </a:rPr>
              <a:t>5</a:t>
            </a:r>
            <a:r>
              <a:rPr lang="ko-KR" altLang="en-US" sz="1400" dirty="0">
                <a:solidFill>
                  <a:schemeClr val="tx1"/>
                </a:solidFill>
              </a:rPr>
              <a:t>년 내 엔지니어링</a:t>
            </a:r>
            <a:r>
              <a:rPr lang="en-US" altLang="ko-KR" sz="1400" dirty="0">
                <a:solidFill>
                  <a:schemeClr val="tx1"/>
                </a:solidFill>
              </a:rPr>
              <a:t>, </a:t>
            </a:r>
            <a:r>
              <a:rPr lang="ko-KR" altLang="en-US" sz="1400" dirty="0">
                <a:solidFill>
                  <a:schemeClr val="tx1"/>
                </a:solidFill>
              </a:rPr>
              <a:t>설비 시스템</a:t>
            </a:r>
            <a:r>
              <a:rPr lang="en-US" altLang="ko-KR" sz="1400" dirty="0">
                <a:solidFill>
                  <a:schemeClr val="tx1"/>
                </a:solidFill>
              </a:rPr>
              <a:t>, </a:t>
            </a:r>
            <a:r>
              <a:rPr lang="ko-KR" altLang="en-US" sz="1400" dirty="0">
                <a:solidFill>
                  <a:schemeClr val="tx1"/>
                </a:solidFill>
              </a:rPr>
              <a:t>프로세스 통합 등 다양한 영역으로 서비스 포트폴리오를 확대합니다</a:t>
            </a:r>
            <a:r>
              <a:rPr lang="en-US" altLang="ko-KR" sz="1400" dirty="0">
                <a:solidFill>
                  <a:schemeClr val="tx1"/>
                </a:solidFill>
              </a:rPr>
              <a:t>.</a:t>
            </a:r>
          </a:p>
          <a:p>
            <a:pPr marL="742950" lvl="1" indent="-285750">
              <a:buFont typeface="Arial" panose="020B0604020202020204" pitchFamily="34" charset="0"/>
              <a:buChar char="•"/>
            </a:pPr>
            <a:r>
              <a:rPr lang="ko-KR" altLang="en-US" sz="1400" dirty="0">
                <a:solidFill>
                  <a:schemeClr val="tx1"/>
                </a:solidFill>
              </a:rPr>
              <a:t>미국 시장 기준에 부합하며</a:t>
            </a:r>
            <a:r>
              <a:rPr lang="en-US" altLang="ko-KR" sz="1400" dirty="0">
                <a:solidFill>
                  <a:schemeClr val="tx1"/>
                </a:solidFill>
              </a:rPr>
              <a:t>, </a:t>
            </a:r>
            <a:r>
              <a:rPr lang="ko-KR" altLang="en-US" sz="1400" dirty="0">
                <a:solidFill>
                  <a:schemeClr val="tx1"/>
                </a:solidFill>
              </a:rPr>
              <a:t>동시에 한국 본사의 운영 기대에 부응하는 지속 가능하고 확장 가능한 조직 운영 체계를 수립합니다</a:t>
            </a:r>
            <a:r>
              <a:rPr lang="en-US" altLang="ko-KR" sz="1400" dirty="0">
                <a:solidFill>
                  <a:schemeClr val="tx1"/>
                </a:solidFill>
              </a:rPr>
              <a:t>.</a:t>
            </a:r>
          </a:p>
        </p:txBody>
      </p:sp>
      <p:graphicFrame>
        <p:nvGraphicFramePr>
          <p:cNvPr id="7" name="표 6">
            <a:extLst>
              <a:ext uri="{FF2B5EF4-FFF2-40B4-BE49-F238E27FC236}">
                <a16:creationId xmlns:a16="http://schemas.microsoft.com/office/drawing/2014/main" id="{934C4A8E-E555-A365-12DF-5B3A9BFBFC2A}"/>
              </a:ext>
            </a:extLst>
          </p:cNvPr>
          <p:cNvGraphicFramePr>
            <a:graphicFrameLocks noGrp="1"/>
          </p:cNvGraphicFramePr>
          <p:nvPr>
            <p:extLst>
              <p:ext uri="{D42A27DB-BD31-4B8C-83A1-F6EECF244321}">
                <p14:modId xmlns:p14="http://schemas.microsoft.com/office/powerpoint/2010/main" val="1647291833"/>
              </p:ext>
            </p:extLst>
          </p:nvPr>
        </p:nvGraphicFramePr>
        <p:xfrm>
          <a:off x="515937" y="902650"/>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600" dirty="0"/>
                        <a:t>1. </a:t>
                      </a:r>
                      <a:r>
                        <a:rPr lang="ko-KR" altLang="en-US" sz="1600" dirty="0"/>
                        <a:t>개요 및 전략적 배경</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spTree>
    <p:extLst>
      <p:ext uri="{BB962C8B-B14F-4D97-AF65-F5344CB8AC3E}">
        <p14:creationId xmlns:p14="http://schemas.microsoft.com/office/powerpoint/2010/main" val="277509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CFFF-4AEF-65EF-F407-8DB0BA1C425F}"/>
            </a:ext>
          </a:extLst>
        </p:cNvPr>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FDE2415B-231A-62D2-0DD2-B319B0DD91B7}"/>
              </a:ext>
            </a:extLst>
          </p:cNvPr>
          <p:cNvGraphicFramePr>
            <a:graphicFrameLocks noGrp="1"/>
          </p:cNvGraphicFramePr>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CF71882C-37B9-44EE-ECF0-109FB7B0F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4BCEC5FD-77E8-0644-E78E-6EFA68243A0F}"/>
              </a:ext>
            </a:extLst>
          </p:cNvPr>
          <p:cNvGraphicFramePr>
            <a:graphicFrameLocks noGrp="1"/>
          </p:cNvGraphicFramePr>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graphicFrame>
        <p:nvGraphicFramePr>
          <p:cNvPr id="7" name="표 6">
            <a:extLst>
              <a:ext uri="{FF2B5EF4-FFF2-40B4-BE49-F238E27FC236}">
                <a16:creationId xmlns:a16="http://schemas.microsoft.com/office/drawing/2014/main" id="{416C4092-020F-5754-4A34-ED94EC5DF787}"/>
              </a:ext>
            </a:extLst>
          </p:cNvPr>
          <p:cNvGraphicFramePr>
            <a:graphicFrameLocks noGrp="1"/>
          </p:cNvGraphicFramePr>
          <p:nvPr>
            <p:extLst>
              <p:ext uri="{D42A27DB-BD31-4B8C-83A1-F6EECF244321}">
                <p14:modId xmlns:p14="http://schemas.microsoft.com/office/powerpoint/2010/main" val="1938100749"/>
              </p:ext>
            </p:extLst>
          </p:nvPr>
        </p:nvGraphicFramePr>
        <p:xfrm>
          <a:off x="515937" y="1449387"/>
          <a:ext cx="11160124" cy="4859340"/>
        </p:xfrm>
        <a:graphic>
          <a:graphicData uri="http://schemas.openxmlformats.org/drawingml/2006/table">
            <a:tbl>
              <a:tblPr firstRow="1" bandRow="1">
                <a:tableStyleId>{C083E6E3-FA7D-4D7B-A595-EF9225AFEA82}</a:tableStyleId>
              </a:tblPr>
              <a:tblGrid>
                <a:gridCol w="778291">
                  <a:extLst>
                    <a:ext uri="{9D8B030D-6E8A-4147-A177-3AD203B41FA5}">
                      <a16:colId xmlns:a16="http://schemas.microsoft.com/office/drawing/2014/main" val="3435986232"/>
                    </a:ext>
                  </a:extLst>
                </a:gridCol>
                <a:gridCol w="3460611">
                  <a:extLst>
                    <a:ext uri="{9D8B030D-6E8A-4147-A177-3AD203B41FA5}">
                      <a16:colId xmlns:a16="http://schemas.microsoft.com/office/drawing/2014/main" val="228304769"/>
                    </a:ext>
                  </a:extLst>
                </a:gridCol>
                <a:gridCol w="3460611">
                  <a:extLst>
                    <a:ext uri="{9D8B030D-6E8A-4147-A177-3AD203B41FA5}">
                      <a16:colId xmlns:a16="http://schemas.microsoft.com/office/drawing/2014/main" val="2313295"/>
                    </a:ext>
                  </a:extLst>
                </a:gridCol>
                <a:gridCol w="3460611">
                  <a:extLst>
                    <a:ext uri="{9D8B030D-6E8A-4147-A177-3AD203B41FA5}">
                      <a16:colId xmlns:a16="http://schemas.microsoft.com/office/drawing/2014/main" val="2344394290"/>
                    </a:ext>
                  </a:extLst>
                </a:gridCol>
              </a:tblGrid>
              <a:tr h="809890">
                <a:tc>
                  <a:txBody>
                    <a:bodyPr/>
                    <a:lstStyle/>
                    <a:p>
                      <a:pPr algn="ctr" latinLnBrk="1"/>
                      <a:r>
                        <a:rPr lang="ko-KR" altLang="en-US" sz="1600" dirty="0"/>
                        <a:t>연도</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latinLnBrk="1"/>
                      <a:r>
                        <a:rPr lang="ko-KR" altLang="en-US" sz="1600" dirty="0"/>
                        <a:t>주요 목표</a:t>
                      </a:r>
                    </a:p>
                  </a:txBody>
                  <a:tcPr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latinLnBrk="1"/>
                      <a:r>
                        <a:rPr lang="ko-KR" altLang="en-US" sz="1600" dirty="0"/>
                        <a:t>핵심 활동</a:t>
                      </a:r>
                    </a:p>
                  </a:txBody>
                  <a:tcPr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latinLnBrk="1"/>
                      <a:r>
                        <a:rPr lang="ko-KR" altLang="en-US" sz="1600" dirty="0"/>
                        <a:t>산출물</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60000"/>
                        <a:lumOff val="40000"/>
                      </a:schemeClr>
                    </a:solidFill>
                  </a:tcPr>
                </a:tc>
                <a:extLst>
                  <a:ext uri="{0D108BD9-81ED-4DB2-BD59-A6C34878D82A}">
                    <a16:rowId xmlns:a16="http://schemas.microsoft.com/office/drawing/2014/main" val="3648885035"/>
                  </a:ext>
                </a:extLst>
              </a:tr>
              <a:tr h="809890">
                <a:tc>
                  <a:txBody>
                    <a:bodyPr/>
                    <a:lstStyle/>
                    <a:p>
                      <a:pPr algn="ctr" latinLnBrk="1"/>
                      <a:r>
                        <a:rPr lang="en-US" altLang="ko-KR" sz="1400" dirty="0"/>
                        <a:t>2025</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ko-KR" altLang="en-US" sz="1400" dirty="0"/>
                        <a:t>법인 설립</a:t>
                      </a:r>
                      <a:r>
                        <a:rPr lang="en-US" altLang="ko-KR" sz="1400" dirty="0"/>
                        <a:t>, </a:t>
                      </a:r>
                      <a:r>
                        <a:rPr lang="ko-KR" altLang="en-US" sz="1400" dirty="0"/>
                        <a:t>사무실 오픈</a:t>
                      </a:r>
                      <a:r>
                        <a:rPr lang="en-US" altLang="ko-KR" sz="1400" dirty="0"/>
                        <a:t>, </a:t>
                      </a:r>
                      <a:r>
                        <a:rPr lang="ko-KR" altLang="en-US" sz="1400" dirty="0"/>
                        <a:t>법인장 선임</a:t>
                      </a:r>
                      <a:r>
                        <a:rPr lang="en-US" altLang="ko-KR" sz="1400" dirty="0"/>
                        <a:t>,</a:t>
                      </a:r>
                    </a:p>
                    <a:p>
                      <a:pPr algn="ctr" latinLnBrk="1"/>
                      <a:r>
                        <a:rPr lang="ko-KR" altLang="en-US" sz="1400" dirty="0"/>
                        <a:t>초기 셋업 작업 </a:t>
                      </a:r>
                    </a:p>
                  </a:txBody>
                  <a:tcPr anchor="ctr"/>
                </a:tc>
                <a:tc>
                  <a:txBody>
                    <a:bodyPr/>
                    <a:lstStyle/>
                    <a:p>
                      <a:pPr algn="ctr" latinLnBrk="1"/>
                      <a:r>
                        <a:rPr lang="ko-KR" altLang="en-US" sz="1400" dirty="0"/>
                        <a:t>법인등록</a:t>
                      </a:r>
                      <a:r>
                        <a:rPr lang="en-US" altLang="ko-KR" sz="1400" dirty="0"/>
                        <a:t>, </a:t>
                      </a:r>
                      <a:r>
                        <a:rPr lang="ko-KR" altLang="en-US" sz="1400" dirty="0"/>
                        <a:t>사무실 임대</a:t>
                      </a:r>
                      <a:r>
                        <a:rPr lang="en-US" altLang="ko-KR" sz="1400" dirty="0"/>
                        <a:t>, </a:t>
                      </a:r>
                      <a:r>
                        <a:rPr lang="ko-KR" altLang="en-US" sz="1400" dirty="0"/>
                        <a:t>직원고용준비</a:t>
                      </a:r>
                      <a:r>
                        <a:rPr lang="en-US" altLang="ko-KR" sz="1400" dirty="0"/>
                        <a:t>, </a:t>
                      </a:r>
                    </a:p>
                    <a:p>
                      <a:pPr algn="ctr" latinLnBrk="1"/>
                      <a:r>
                        <a:rPr lang="ko-KR" altLang="en-US" sz="1400" dirty="0"/>
                        <a:t>초기영업준비</a:t>
                      </a:r>
                    </a:p>
                  </a:txBody>
                  <a:tcPr anchor="ctr"/>
                </a:tc>
                <a:tc>
                  <a:txBody>
                    <a:bodyPr/>
                    <a:lstStyle/>
                    <a:p>
                      <a:pPr algn="ctr" latinLnBrk="1"/>
                      <a:r>
                        <a:rPr lang="ko-KR" altLang="en-US" sz="1400" dirty="0"/>
                        <a:t>등록증</a:t>
                      </a:r>
                      <a:r>
                        <a:rPr lang="en-US" altLang="ko-KR" sz="1400" dirty="0"/>
                        <a:t>, </a:t>
                      </a:r>
                      <a:r>
                        <a:rPr lang="ko-KR" altLang="en-US" sz="1400" dirty="0"/>
                        <a:t>사무실임대</a:t>
                      </a:r>
                      <a:r>
                        <a:rPr lang="en-US" altLang="ko-KR" sz="1400" dirty="0"/>
                        <a:t>, </a:t>
                      </a:r>
                      <a:r>
                        <a:rPr lang="ko-KR" altLang="en-US" sz="1400" dirty="0" err="1"/>
                        <a:t>메뉴얼북</a:t>
                      </a:r>
                      <a:endParaRPr lang="ko-KR" altLang="en-US" sz="1400" dirty="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76753150"/>
                  </a:ext>
                </a:extLst>
              </a:tr>
              <a:tr h="809890">
                <a:tc>
                  <a:txBody>
                    <a:bodyPr/>
                    <a:lstStyle/>
                    <a:p>
                      <a:pPr algn="ctr" latinLnBrk="1"/>
                      <a:r>
                        <a:rPr lang="en-US" altLang="ko-KR" sz="1400" dirty="0"/>
                        <a:t>2026</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ko-KR" altLang="en-US" sz="1400" dirty="0"/>
                        <a:t>기술인력현지화</a:t>
                      </a:r>
                    </a:p>
                  </a:txBody>
                  <a:tcPr anchor="ctr"/>
                </a:tc>
                <a:tc>
                  <a:txBody>
                    <a:bodyPr/>
                    <a:lstStyle/>
                    <a:p>
                      <a:pPr algn="ctr" latinLnBrk="1"/>
                      <a:r>
                        <a:rPr lang="ko-KR" altLang="en-US" sz="1400" dirty="0"/>
                        <a:t>현지 엔지니어 채용 및 교육</a:t>
                      </a:r>
                      <a:endParaRPr lang="en-US" altLang="ko-KR" sz="1400" dirty="0"/>
                    </a:p>
                  </a:txBody>
                  <a:tcPr anchor="ctr"/>
                </a:tc>
                <a:tc>
                  <a:txBody>
                    <a:bodyPr/>
                    <a:lstStyle/>
                    <a:p>
                      <a:pPr algn="ctr" latinLnBrk="1"/>
                      <a:r>
                        <a:rPr lang="ko-KR" altLang="en-US" sz="1400" dirty="0"/>
                        <a:t>채용 계약서</a:t>
                      </a:r>
                      <a:r>
                        <a:rPr lang="en-US" altLang="ko-KR" sz="1400" dirty="0"/>
                        <a:t>, </a:t>
                      </a:r>
                      <a:r>
                        <a:rPr lang="ko-KR" altLang="en-US" sz="1400" dirty="0"/>
                        <a:t>교육기록</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65800514"/>
                  </a:ext>
                </a:extLst>
              </a:tr>
              <a:tr h="809890">
                <a:tc>
                  <a:txBody>
                    <a:bodyPr/>
                    <a:lstStyle/>
                    <a:p>
                      <a:pPr algn="ctr" latinLnBrk="1"/>
                      <a:r>
                        <a:rPr lang="en-US" altLang="ko-KR" sz="1400" dirty="0"/>
                        <a:t>2027</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ko-KR" altLang="en-US" sz="1400" dirty="0"/>
                        <a:t>인력 현지화 가속</a:t>
                      </a:r>
                      <a:endParaRPr lang="en-US" altLang="ko-KR" sz="1400" dirty="0"/>
                    </a:p>
                    <a:p>
                      <a:pPr algn="ctr" latinLnBrk="1"/>
                      <a:r>
                        <a:rPr lang="ko-KR" altLang="en-US" sz="1400" dirty="0"/>
                        <a:t>서비스 다각화 준비</a:t>
                      </a:r>
                    </a:p>
                  </a:txBody>
                  <a:tcPr anchor="ctr"/>
                </a:tc>
                <a:tc>
                  <a:txBody>
                    <a:bodyPr/>
                    <a:lstStyle/>
                    <a:p>
                      <a:pPr algn="ctr" latinLnBrk="1"/>
                      <a:r>
                        <a:rPr lang="ko-KR" altLang="en-US" sz="1400" dirty="0"/>
                        <a:t>지속적 현지 채용</a:t>
                      </a:r>
                      <a:endParaRPr lang="en-US" altLang="ko-KR" sz="1400" dirty="0"/>
                    </a:p>
                    <a:p>
                      <a:pPr algn="ctr" latinLnBrk="1"/>
                      <a:r>
                        <a:rPr lang="ko-KR" altLang="en-US" sz="1400" dirty="0"/>
                        <a:t>현지 시장 조사</a:t>
                      </a:r>
                    </a:p>
                  </a:txBody>
                  <a:tcPr anchor="ctr"/>
                </a:tc>
                <a:tc>
                  <a:txBody>
                    <a:bodyPr/>
                    <a:lstStyle/>
                    <a:p>
                      <a:pPr algn="ctr" latinLnBrk="1"/>
                      <a:r>
                        <a:rPr lang="ko-KR" altLang="en-US" sz="1400" dirty="0"/>
                        <a:t>조사 보고서</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6275245"/>
                  </a:ext>
                </a:extLst>
              </a:tr>
              <a:tr h="809890">
                <a:tc>
                  <a:txBody>
                    <a:bodyPr/>
                    <a:lstStyle/>
                    <a:p>
                      <a:pPr algn="ctr" latinLnBrk="1"/>
                      <a:r>
                        <a:rPr lang="en-US" altLang="ko-KR" sz="1400" dirty="0"/>
                        <a:t>2028</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ko-KR" altLang="en-US" sz="1400" dirty="0"/>
                        <a:t>현지 파트너쉽 확대</a:t>
                      </a:r>
                    </a:p>
                  </a:txBody>
                  <a:tcPr anchor="ctr"/>
                </a:tc>
                <a:tc>
                  <a:txBody>
                    <a:bodyPr/>
                    <a:lstStyle/>
                    <a:p>
                      <a:pPr algn="ctr" latinLnBrk="1"/>
                      <a:endParaRPr lang="ko-KR" altLang="en-US" sz="1400" dirty="0"/>
                    </a:p>
                  </a:txBody>
                  <a:tcPr anchor="ctr"/>
                </a:tc>
                <a:tc>
                  <a:txBody>
                    <a:bodyPr/>
                    <a:lstStyle/>
                    <a:p>
                      <a:pPr algn="ctr" latinLnBrk="1"/>
                      <a:r>
                        <a:rPr lang="ko-KR" altLang="en-US" sz="1400" dirty="0"/>
                        <a:t>업무협약서</a:t>
                      </a:r>
                      <a:r>
                        <a:rPr lang="en-US" altLang="ko-KR" sz="1400" dirty="0"/>
                        <a:t>, </a:t>
                      </a:r>
                      <a:r>
                        <a:rPr lang="ko-KR" altLang="en-US" sz="1400" dirty="0"/>
                        <a:t>파트너 계약서</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7247869"/>
                  </a:ext>
                </a:extLst>
              </a:tr>
              <a:tr h="809890">
                <a:tc>
                  <a:txBody>
                    <a:bodyPr/>
                    <a:lstStyle/>
                    <a:p>
                      <a:pPr algn="ctr" latinLnBrk="1"/>
                      <a:r>
                        <a:rPr lang="en-US" altLang="ko-KR" sz="1400" dirty="0"/>
                        <a:t>2029</a:t>
                      </a:r>
                      <a:endParaRPr lang="ko-KR" altLang="en-US" sz="14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latinLnBrk="1"/>
                      <a:r>
                        <a:rPr lang="ko-KR" altLang="en-US" sz="1400" dirty="0"/>
                        <a:t>수익 모델 확장</a:t>
                      </a:r>
                    </a:p>
                  </a:txBody>
                  <a:tcPr anchor="ctr">
                    <a:lnB w="12700" cap="flat" cmpd="sng" algn="ctr">
                      <a:solidFill>
                        <a:schemeClr val="tx1"/>
                      </a:solidFill>
                      <a:prstDash val="solid"/>
                      <a:round/>
                      <a:headEnd type="none" w="med" len="med"/>
                      <a:tailEnd type="none" w="med" len="med"/>
                    </a:lnB>
                  </a:tcPr>
                </a:tc>
                <a:tc>
                  <a:txBody>
                    <a:bodyPr/>
                    <a:lstStyle/>
                    <a:p>
                      <a:pPr algn="ctr" latinLnBrk="1"/>
                      <a:r>
                        <a:rPr lang="ko-KR" altLang="en-US" sz="1400" dirty="0"/>
                        <a:t>서비스 고도화</a:t>
                      </a:r>
                      <a:endParaRPr lang="en-US" altLang="ko-KR" sz="1400" dirty="0"/>
                    </a:p>
                    <a:p>
                      <a:pPr algn="ctr" latinLnBrk="1"/>
                      <a:r>
                        <a:rPr lang="ko-KR" altLang="en-US" sz="1400" dirty="0"/>
                        <a:t>사업분야 확대</a:t>
                      </a:r>
                    </a:p>
                  </a:txBody>
                  <a:tcPr anchor="ctr">
                    <a:lnB w="12700" cap="flat" cmpd="sng" algn="ctr">
                      <a:solidFill>
                        <a:schemeClr val="tx1"/>
                      </a:solidFill>
                      <a:prstDash val="solid"/>
                      <a:round/>
                      <a:headEnd type="none" w="med" len="med"/>
                      <a:tailEnd type="none" w="med" len="med"/>
                    </a:lnB>
                  </a:tcPr>
                </a:tc>
                <a:tc>
                  <a:txBody>
                    <a:bodyPr/>
                    <a:lstStyle/>
                    <a:p>
                      <a:pPr algn="ctr" latinLnBrk="1"/>
                      <a:endParaRPr lang="ko-KR" altLang="en-US" sz="14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28455"/>
                  </a:ext>
                </a:extLst>
              </a:tr>
            </a:tbl>
          </a:graphicData>
        </a:graphic>
      </p:graphicFrame>
      <p:graphicFrame>
        <p:nvGraphicFramePr>
          <p:cNvPr id="8" name="표 7">
            <a:extLst>
              <a:ext uri="{FF2B5EF4-FFF2-40B4-BE49-F238E27FC236}">
                <a16:creationId xmlns:a16="http://schemas.microsoft.com/office/drawing/2014/main" id="{D8992FEB-6F37-116F-1290-C89476439912}"/>
              </a:ext>
            </a:extLst>
          </p:cNvPr>
          <p:cNvGraphicFramePr>
            <a:graphicFrameLocks noGrp="1"/>
          </p:cNvGraphicFramePr>
          <p:nvPr>
            <p:extLst>
              <p:ext uri="{D42A27DB-BD31-4B8C-83A1-F6EECF244321}">
                <p14:modId xmlns:p14="http://schemas.microsoft.com/office/powerpoint/2010/main" val="406001768"/>
              </p:ext>
            </p:extLst>
          </p:nvPr>
        </p:nvGraphicFramePr>
        <p:xfrm>
          <a:off x="515939" y="909643"/>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indent="0">
                        <a:buFontTx/>
                        <a:buNone/>
                      </a:pPr>
                      <a:r>
                        <a:rPr lang="en-US" altLang="ko-KR" sz="1600" dirty="0">
                          <a:solidFill>
                            <a:prstClr val="white"/>
                          </a:solidFill>
                          <a:latin typeface="+mn-lt"/>
                          <a:ea typeface="+mn-ea"/>
                        </a:rPr>
                        <a:t>2. 5</a:t>
                      </a:r>
                      <a:r>
                        <a:rPr lang="ko-KR" altLang="en-US" sz="1600" dirty="0">
                          <a:solidFill>
                            <a:prstClr val="white"/>
                          </a:solidFill>
                          <a:latin typeface="+mn-lt"/>
                          <a:ea typeface="+mn-ea"/>
                        </a:rPr>
                        <a:t>개년 사업 실행계획</a:t>
                      </a:r>
                      <a:endParaRPr kumimoji="0" lang="ko-KR" altLang="en-US" sz="1600" b="0" i="0" u="none" strike="noStrike" kern="1200" cap="none" spc="0" normalizeH="0" baseline="0" noProof="0" dirty="0">
                        <a:ln>
                          <a:noFill/>
                        </a:ln>
                        <a:solidFill>
                          <a:prstClr val="white"/>
                        </a:solidFill>
                        <a:effectLst/>
                        <a:uLnTx/>
                        <a:uFillTx/>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spTree>
    <p:extLst>
      <p:ext uri="{BB962C8B-B14F-4D97-AF65-F5344CB8AC3E}">
        <p14:creationId xmlns:p14="http://schemas.microsoft.com/office/powerpoint/2010/main" val="2918649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DA9E6-4AF5-99A3-D89F-C46DB54F5378}"/>
            </a:ext>
          </a:extLst>
        </p:cNvPr>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9143B2B7-CDF7-FE04-F7DE-D467BD8D9C20}"/>
              </a:ext>
            </a:extLst>
          </p:cNvPr>
          <p:cNvGraphicFramePr>
            <a:graphicFrameLocks noGrp="1"/>
          </p:cNvGraphicFramePr>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5914C9E5-3A0A-D6B3-37DE-5F45D1592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74B13402-1C3D-B1FC-3364-A083C6A075BD}"/>
              </a:ext>
            </a:extLst>
          </p:cNvPr>
          <p:cNvGraphicFramePr>
            <a:graphicFrameLocks noGrp="1"/>
          </p:cNvGraphicFramePr>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sp>
        <p:nvSpPr>
          <p:cNvPr id="6" name="직사각형 5">
            <a:extLst>
              <a:ext uri="{FF2B5EF4-FFF2-40B4-BE49-F238E27FC236}">
                <a16:creationId xmlns:a16="http://schemas.microsoft.com/office/drawing/2014/main" id="{349BA03F-7A8E-B2DD-15A2-F67B23813310}"/>
              </a:ext>
            </a:extLst>
          </p:cNvPr>
          <p:cNvSpPr/>
          <p:nvPr/>
        </p:nvSpPr>
        <p:spPr>
          <a:xfrm>
            <a:off x="515938" y="1449387"/>
            <a:ext cx="11160125" cy="4859337"/>
          </a:xfrm>
          <a:prstGeom prst="rect">
            <a:avLst/>
          </a:prstGeom>
          <a:solidFill>
            <a:schemeClr val="accent1">
              <a:lumMod val="20000"/>
              <a:lumOff val="8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t"/>
          <a:lstStyle/>
          <a:p>
            <a:pPr marL="285750" marR="0" lvl="0" indent="-285750" algn="l" defTabSz="914400" rtl="0" eaLnBrk="1" fontAlgn="auto" latinLnBrk="1" hangingPunct="1">
              <a:lnSpc>
                <a:spcPct val="100000"/>
              </a:lnSpc>
              <a:spcBef>
                <a:spcPts val="0"/>
              </a:spcBef>
              <a:spcAft>
                <a:spcPts val="0"/>
              </a:spcAft>
              <a:buClrTx/>
              <a:buSzTx/>
              <a:buFont typeface="Wingdings" panose="05000000000000000000" pitchFamily="2" charset="2"/>
              <a:buChar char="v"/>
              <a:tabLst/>
              <a:defRPr/>
            </a:pPr>
            <a:r>
              <a:rPr lang="ko-KR" altLang="en-US" sz="1400" dirty="0">
                <a:solidFill>
                  <a:prstClr val="black"/>
                </a:solidFill>
                <a:latin typeface="맑은 고딕" panose="020F0502020204030204"/>
                <a:ea typeface="맑은 고딕" panose="020B0503020000020004" pitchFamily="50" charset="-127"/>
              </a:rPr>
              <a:t>목표시장</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742950" marR="0" lvl="1"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우리의 주요 목표 시장은 자동차 부품 제조업체이며</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742950" marR="0" lvl="1"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특히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OEM(</a:t>
            </a:r>
            <a:r>
              <a:rPr kumimoji="0" lang="ko-KR" altLang="en-US"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완성차</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업체</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및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1</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차 협력업체</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(Tier 1)</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에 공급하는 업체를 중심으로 하고 있습니다</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742950" marR="0" lvl="1"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285750" marR="0" lvl="0" indent="-285750" algn="l" defTabSz="914400" rtl="0" eaLnBrk="1" fontAlgn="auto" latinLnBrk="1" hangingPunct="1">
              <a:lnSpc>
                <a:spcPct val="100000"/>
              </a:lnSpc>
              <a:spcBef>
                <a:spcPts val="0"/>
              </a:spcBef>
              <a:spcAft>
                <a:spcPts val="0"/>
              </a:spcAft>
              <a:buClrTx/>
              <a:buSzTx/>
              <a:buFont typeface="Wingdings" panose="05000000000000000000" pitchFamily="2" charset="2"/>
              <a:buChar char="v"/>
              <a:tabLst/>
              <a:defRPr/>
            </a:pPr>
            <a:r>
              <a:rPr lang="ko-KR" altLang="en-US" sz="1400" dirty="0">
                <a:solidFill>
                  <a:prstClr val="black"/>
                </a:solidFill>
                <a:latin typeface="맑은 고딕" panose="020F0502020204030204"/>
                <a:ea typeface="맑은 고딕" panose="020B0503020000020004" pitchFamily="50" charset="-127"/>
              </a:rPr>
              <a:t>우선 공략 지역</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R="0" lvl="1" algn="l" defTabSz="914400" rtl="0" eaLnBrk="1" fontAlgn="auto" latinLnBrk="1" hangingPunct="1">
              <a:lnSpc>
                <a:spcPct val="100000"/>
              </a:lnSpc>
              <a:spcBef>
                <a:spcPts val="0"/>
              </a:spcBef>
              <a:spcAft>
                <a:spcPts val="0"/>
              </a:spcAft>
              <a:buClrTx/>
              <a:buSzTx/>
              <a:tabLst/>
              <a:defRPr/>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초기 사업 지역은 앨라배마</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(Alabama)</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와 조지아</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(Georgia)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주로 설정했으며</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그 이유는 다음과 같습니다</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현대</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기아</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메르세데스</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벤츠</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ko-KR" altLang="en-US"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혼다</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등 글로벌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OEM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공장 밀집</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첨단 제조 기반 및 관련 산업 인프라 우수</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공급업체에게 친화적인 비즈니스 및 규제 환경</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주요 물류 거점 및 산업단지와의 지리적 근접성</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200150" lvl="2" indent="-285750">
              <a:buFont typeface="Wingdings" panose="05000000000000000000" pitchFamily="2" charset="2"/>
              <a:buChar char="ü"/>
            </a:pPr>
            <a:r>
              <a:rPr lang="ko-KR" altLang="en-US" sz="1400" dirty="0">
                <a:solidFill>
                  <a:prstClr val="black"/>
                </a:solidFill>
                <a:latin typeface="맑은 고딕" panose="020F0502020204030204"/>
                <a:ea typeface="맑은 고딕" panose="020B0503020000020004" pitchFamily="50" charset="-127"/>
              </a:rPr>
              <a:t>가장 큰 이유는 기존 거래처와 유사 업체들이 많이 있다</a:t>
            </a:r>
            <a:r>
              <a:rPr lang="en-US" altLang="ko-KR" sz="1400" dirty="0">
                <a:solidFill>
                  <a:prstClr val="black"/>
                </a:solidFill>
                <a:latin typeface="맑은 고딕" panose="020F0502020204030204"/>
                <a:ea typeface="맑은 고딕" panose="020B0503020000020004" pitchFamily="50" charset="-127"/>
              </a:rPr>
              <a:t>.</a:t>
            </a:r>
          </a:p>
          <a:p>
            <a:pPr marL="1200150" lvl="2" indent="-285750">
              <a:buFont typeface="Wingdings" panose="05000000000000000000" pitchFamily="2" charset="2"/>
              <a:buChar char="ü"/>
            </a:pP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285750" marR="0" lvl="0" indent="-285750" algn="l" defTabSz="914400" rtl="0" eaLnBrk="1" fontAlgn="auto" latinLnBrk="1" hangingPunct="1">
              <a:lnSpc>
                <a:spcPct val="100000"/>
              </a:lnSpc>
              <a:spcBef>
                <a:spcPts val="0"/>
              </a:spcBef>
              <a:spcAft>
                <a:spcPts val="0"/>
              </a:spcAft>
              <a:buClrTx/>
              <a:buSzTx/>
              <a:buFont typeface="Wingdings" panose="05000000000000000000" pitchFamily="2" charset="2"/>
              <a:buChar char="v"/>
              <a:tabLst/>
              <a:defRPr/>
            </a:pPr>
            <a:r>
              <a:rPr lang="ko-KR" altLang="en-US" sz="1400" dirty="0">
                <a:solidFill>
                  <a:prstClr val="black"/>
                </a:solidFill>
                <a:latin typeface="맑은 고딕" panose="020F0502020204030204"/>
                <a:ea typeface="맑은 고딕" panose="020B0503020000020004" pitchFamily="50" charset="-127"/>
              </a:rPr>
              <a:t>시장 접근 전략</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R="0" lvl="1" algn="l" defTabSz="914400" rtl="0" eaLnBrk="1" fontAlgn="auto" latinLnBrk="1" hangingPunct="1">
              <a:lnSpc>
                <a:spcPct val="100000"/>
              </a:lnSpc>
              <a:spcBef>
                <a:spcPts val="0"/>
              </a:spcBef>
              <a:spcAft>
                <a:spcPts val="0"/>
              </a:spcAft>
              <a:buClrTx/>
              <a:buSzTx/>
              <a:tabLst/>
              <a:defRPr/>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사내 영업팀을 중심으로 한 직접적인 영업 활동을 통해 다음과 같은 효과를 기대합니다</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1200150" lvl="2" indent="-285750">
              <a:buFont typeface="Wingdings" panose="05000000000000000000" pitchFamily="2" charset="2"/>
              <a:buChar char="ü"/>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OEM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및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Tier 1 </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의사결정자와 직접 커뮤니케이션</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신속한 협상 및 서비스 </a:t>
            </a:r>
            <a:r>
              <a:rPr kumimoji="0" lang="ko-KR" altLang="en-US"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맞춤화</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가능</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고객 관계 구축 및 장기 유지 용이</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1200150" lvl="2" indent="-285750">
              <a:buFont typeface="Wingdings" panose="05000000000000000000" pitchFamily="2" charset="2"/>
              <a:buChar char="ü"/>
            </a:pP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고객의 세부 운영 요구에 대한 높은 </a:t>
            </a:r>
            <a:r>
              <a:rPr kumimoji="0" lang="ko-KR" altLang="en-US"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대응성</a:t>
            </a:r>
            <a:r>
              <a:rPr kumimoji="0" lang="ko-KR" altLang="en-US"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확보</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aphicFrame>
        <p:nvGraphicFramePr>
          <p:cNvPr id="7" name="표 6">
            <a:extLst>
              <a:ext uri="{FF2B5EF4-FFF2-40B4-BE49-F238E27FC236}">
                <a16:creationId xmlns:a16="http://schemas.microsoft.com/office/drawing/2014/main" id="{CF229A6B-2E46-D892-FA2E-B84AECFBD0A3}"/>
              </a:ext>
            </a:extLst>
          </p:cNvPr>
          <p:cNvGraphicFramePr>
            <a:graphicFrameLocks noGrp="1"/>
          </p:cNvGraphicFramePr>
          <p:nvPr>
            <p:extLst>
              <p:ext uri="{D42A27DB-BD31-4B8C-83A1-F6EECF244321}">
                <p14:modId xmlns:p14="http://schemas.microsoft.com/office/powerpoint/2010/main" val="1282231866"/>
              </p:ext>
            </p:extLst>
          </p:nvPr>
        </p:nvGraphicFramePr>
        <p:xfrm>
          <a:off x="515939" y="909642"/>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600" dirty="0">
                          <a:solidFill>
                            <a:prstClr val="white"/>
                          </a:solidFill>
                          <a:latin typeface="+mn-lt"/>
                          <a:ea typeface="+mn-ea"/>
                        </a:rPr>
                        <a:t>3. </a:t>
                      </a:r>
                      <a:r>
                        <a:rPr lang="ko-KR" altLang="en-US" sz="1600" dirty="0">
                          <a:solidFill>
                            <a:prstClr val="white"/>
                          </a:solidFill>
                          <a:latin typeface="+mn-lt"/>
                          <a:ea typeface="+mn-ea"/>
                        </a:rPr>
                        <a:t>시장 진입 전략</a:t>
                      </a:r>
                      <a:endParaRPr kumimoji="0" lang="ko-KR" altLang="en-US" sz="1600" b="0" i="0" u="none" strike="noStrike" kern="1200" cap="none" spc="0" normalizeH="0" baseline="0" noProof="0" dirty="0">
                        <a:ln>
                          <a:noFill/>
                        </a:ln>
                        <a:solidFill>
                          <a:prstClr val="white"/>
                        </a:solidFill>
                        <a:effectLst/>
                        <a:uLnTx/>
                        <a:uFillTx/>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spTree>
    <p:extLst>
      <p:ext uri="{BB962C8B-B14F-4D97-AF65-F5344CB8AC3E}">
        <p14:creationId xmlns:p14="http://schemas.microsoft.com/office/powerpoint/2010/main" val="2491479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62C-3DC1-0B9C-0614-9F186C49173A}"/>
            </a:ext>
          </a:extLst>
        </p:cNvPr>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961AF552-EA4E-A39D-4AEA-DF437C7BC262}"/>
              </a:ext>
            </a:extLst>
          </p:cNvPr>
          <p:cNvGraphicFramePr>
            <a:graphicFrameLocks noGrp="1"/>
          </p:cNvGraphicFramePr>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DF813DC3-73C1-E332-782C-41367F65B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C35E3C94-814B-81B4-9607-48A0FD11297F}"/>
              </a:ext>
            </a:extLst>
          </p:cNvPr>
          <p:cNvGraphicFramePr>
            <a:graphicFrameLocks noGrp="1"/>
          </p:cNvGraphicFramePr>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graphicFrame>
        <p:nvGraphicFramePr>
          <p:cNvPr id="7" name="표 6">
            <a:extLst>
              <a:ext uri="{FF2B5EF4-FFF2-40B4-BE49-F238E27FC236}">
                <a16:creationId xmlns:a16="http://schemas.microsoft.com/office/drawing/2014/main" id="{2AB00895-9DD8-D6D6-97C9-4202CAF26DC5}"/>
              </a:ext>
            </a:extLst>
          </p:cNvPr>
          <p:cNvGraphicFramePr>
            <a:graphicFrameLocks noGrp="1"/>
          </p:cNvGraphicFramePr>
          <p:nvPr>
            <p:extLst>
              <p:ext uri="{D42A27DB-BD31-4B8C-83A1-F6EECF244321}">
                <p14:modId xmlns:p14="http://schemas.microsoft.com/office/powerpoint/2010/main" val="1960669501"/>
              </p:ext>
            </p:extLst>
          </p:nvPr>
        </p:nvGraphicFramePr>
        <p:xfrm>
          <a:off x="515937" y="1449387"/>
          <a:ext cx="11160124" cy="4859340"/>
        </p:xfrm>
        <a:graphic>
          <a:graphicData uri="http://schemas.openxmlformats.org/drawingml/2006/table">
            <a:tbl>
              <a:tblPr firstRow="1" bandRow="1">
                <a:tableStyleId>{C083E6E3-FA7D-4D7B-A595-EF9225AFEA82}</a:tableStyleId>
              </a:tblPr>
              <a:tblGrid>
                <a:gridCol w="778291">
                  <a:extLst>
                    <a:ext uri="{9D8B030D-6E8A-4147-A177-3AD203B41FA5}">
                      <a16:colId xmlns:a16="http://schemas.microsoft.com/office/drawing/2014/main" val="3435986232"/>
                    </a:ext>
                  </a:extLst>
                </a:gridCol>
                <a:gridCol w="3460611">
                  <a:extLst>
                    <a:ext uri="{9D8B030D-6E8A-4147-A177-3AD203B41FA5}">
                      <a16:colId xmlns:a16="http://schemas.microsoft.com/office/drawing/2014/main" val="228304769"/>
                    </a:ext>
                  </a:extLst>
                </a:gridCol>
                <a:gridCol w="3460611">
                  <a:extLst>
                    <a:ext uri="{9D8B030D-6E8A-4147-A177-3AD203B41FA5}">
                      <a16:colId xmlns:a16="http://schemas.microsoft.com/office/drawing/2014/main" val="2313295"/>
                    </a:ext>
                  </a:extLst>
                </a:gridCol>
                <a:gridCol w="3460611">
                  <a:extLst>
                    <a:ext uri="{9D8B030D-6E8A-4147-A177-3AD203B41FA5}">
                      <a16:colId xmlns:a16="http://schemas.microsoft.com/office/drawing/2014/main" val="2344394290"/>
                    </a:ext>
                  </a:extLst>
                </a:gridCol>
              </a:tblGrid>
              <a:tr h="809890">
                <a:tc>
                  <a:txBody>
                    <a:bodyPr/>
                    <a:lstStyle/>
                    <a:p>
                      <a:pPr algn="ctr" latinLnBrk="1"/>
                      <a:r>
                        <a:rPr lang="ko-KR" altLang="en-US" sz="1600" dirty="0"/>
                        <a:t>연도</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latinLnBrk="1"/>
                      <a:r>
                        <a:rPr lang="ko-KR" altLang="en-US" sz="1600" dirty="0"/>
                        <a:t>목표 인원</a:t>
                      </a:r>
                    </a:p>
                  </a:txBody>
                  <a:tcPr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latinLnBrk="1"/>
                      <a:r>
                        <a:rPr lang="ko-KR" altLang="en-US" sz="1600" dirty="0"/>
                        <a:t> 직무구성</a:t>
                      </a:r>
                    </a:p>
                  </a:txBody>
                  <a:tcPr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latinLnBrk="1"/>
                      <a:r>
                        <a:rPr lang="ko-KR" altLang="en-US" sz="1600" dirty="0"/>
                        <a:t>총 고용비용</a:t>
                      </a:r>
                      <a:r>
                        <a:rPr lang="en-US" altLang="ko-KR" sz="1600" dirty="0"/>
                        <a:t>(</a:t>
                      </a:r>
                      <a:r>
                        <a:rPr lang="ko-KR" altLang="en-US" sz="1600" dirty="0"/>
                        <a:t>예상</a:t>
                      </a:r>
                      <a:r>
                        <a:rPr lang="en-US" altLang="ko-KR" sz="1600" dirty="0"/>
                        <a:t>)</a:t>
                      </a:r>
                      <a:endParaRPr lang="ko-KR" alt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60000"/>
                        <a:lumOff val="40000"/>
                      </a:schemeClr>
                    </a:solidFill>
                  </a:tcPr>
                </a:tc>
                <a:extLst>
                  <a:ext uri="{0D108BD9-81ED-4DB2-BD59-A6C34878D82A}">
                    <a16:rowId xmlns:a16="http://schemas.microsoft.com/office/drawing/2014/main" val="3648885035"/>
                  </a:ext>
                </a:extLst>
              </a:tr>
              <a:tr h="809890">
                <a:tc>
                  <a:txBody>
                    <a:bodyPr/>
                    <a:lstStyle/>
                    <a:p>
                      <a:pPr algn="ctr" latinLnBrk="1"/>
                      <a:r>
                        <a:rPr lang="en-US" altLang="ko-KR" sz="1400" dirty="0"/>
                        <a:t>2025</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en-US" altLang="ko-KR" sz="1400" dirty="0"/>
                        <a:t>2</a:t>
                      </a:r>
                      <a:r>
                        <a:rPr lang="ko-KR" altLang="en-US" sz="1400" dirty="0"/>
                        <a:t>명</a:t>
                      </a:r>
                      <a:endParaRPr lang="en-US" altLang="ko-KR" sz="1400" dirty="0"/>
                    </a:p>
                  </a:txBody>
                  <a:tcPr anchor="ctr"/>
                </a:tc>
                <a:tc>
                  <a:txBody>
                    <a:bodyPr/>
                    <a:lstStyle/>
                    <a:p>
                      <a:pPr algn="ctr" latinLnBrk="1"/>
                      <a:r>
                        <a:rPr lang="ko-KR" altLang="en-US" sz="1400" dirty="0"/>
                        <a:t>법인장 </a:t>
                      </a:r>
                      <a:r>
                        <a:rPr lang="en-US" altLang="ko-KR" sz="1400" dirty="0"/>
                        <a:t>1</a:t>
                      </a:r>
                      <a:r>
                        <a:rPr lang="ko-KR" altLang="en-US" sz="1400" dirty="0"/>
                        <a:t>명</a:t>
                      </a:r>
                      <a:r>
                        <a:rPr lang="en-US" altLang="ko-KR" sz="1400" dirty="0"/>
                        <a:t>(</a:t>
                      </a:r>
                      <a:r>
                        <a:rPr lang="ko-KR" altLang="en-US" sz="1400" dirty="0"/>
                        <a:t>현지</a:t>
                      </a:r>
                      <a:r>
                        <a:rPr lang="en-US" altLang="ko-KR" sz="1400" dirty="0"/>
                        <a:t>)</a:t>
                      </a:r>
                    </a:p>
                    <a:p>
                      <a:pPr algn="ctr" latinLnBrk="1"/>
                      <a:r>
                        <a:rPr lang="ko-KR" altLang="en-US" sz="1400" dirty="0"/>
                        <a:t>주재원 </a:t>
                      </a:r>
                      <a:r>
                        <a:rPr lang="en-US" altLang="ko-KR" sz="1400" dirty="0"/>
                        <a:t>1</a:t>
                      </a:r>
                      <a:r>
                        <a:rPr lang="ko-KR" altLang="en-US" sz="1400" dirty="0"/>
                        <a:t>명</a:t>
                      </a:r>
                      <a:endParaRPr lang="en-US" altLang="ko-KR" sz="1400" dirty="0"/>
                    </a:p>
                  </a:txBody>
                  <a:tcPr anchor="ctr"/>
                </a:tc>
                <a:tc>
                  <a:txBody>
                    <a:bodyPr/>
                    <a:lstStyle/>
                    <a:p>
                      <a:pPr algn="ctr" latinLnBrk="1"/>
                      <a:r>
                        <a:rPr lang="en-US" altLang="ko-KR" sz="1400" dirty="0"/>
                        <a:t>110</a:t>
                      </a:r>
                      <a:endParaRPr lang="ko-KR" altLang="en-US" sz="1400" dirty="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76753150"/>
                  </a:ext>
                </a:extLst>
              </a:tr>
              <a:tr h="809890">
                <a:tc>
                  <a:txBody>
                    <a:bodyPr/>
                    <a:lstStyle/>
                    <a:p>
                      <a:pPr algn="ctr" latinLnBrk="1"/>
                      <a:r>
                        <a:rPr lang="en-US" altLang="ko-KR" sz="1400" dirty="0"/>
                        <a:t>2026</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en-US" altLang="ko-KR" sz="1400" dirty="0"/>
                        <a:t>+6</a:t>
                      </a:r>
                      <a:r>
                        <a:rPr lang="ko-KR" altLang="en-US" sz="1400" dirty="0"/>
                        <a:t>명  </a:t>
                      </a:r>
                      <a:r>
                        <a:rPr lang="en-US" altLang="ko-KR" sz="1400" dirty="0"/>
                        <a:t>(</a:t>
                      </a:r>
                      <a:r>
                        <a:rPr lang="ko-KR" altLang="en-US" sz="1400" dirty="0"/>
                        <a:t>총 </a:t>
                      </a:r>
                      <a:r>
                        <a:rPr lang="en-US" altLang="ko-KR" sz="1400" dirty="0"/>
                        <a:t>8</a:t>
                      </a:r>
                      <a:r>
                        <a:rPr lang="ko-KR" altLang="en-US" sz="1400" dirty="0"/>
                        <a:t>명</a:t>
                      </a:r>
                      <a:r>
                        <a:rPr lang="en-US" altLang="ko-KR" sz="1400" dirty="0"/>
                        <a:t>)</a:t>
                      </a:r>
                      <a:endParaRPr lang="ko-KR" altLang="en-US" sz="1400" dirty="0"/>
                    </a:p>
                  </a:txBody>
                  <a:tcPr anchor="ctr"/>
                </a:tc>
                <a:tc>
                  <a:txBody>
                    <a:bodyPr/>
                    <a:lstStyle/>
                    <a:p>
                      <a:pPr algn="ctr" latinLnBrk="1"/>
                      <a:r>
                        <a:rPr lang="ko-KR" altLang="en-US" sz="1400" dirty="0"/>
                        <a:t>현지 기술직 </a:t>
                      </a:r>
                      <a:r>
                        <a:rPr lang="en-US" altLang="ko-KR" sz="1400" dirty="0"/>
                        <a:t>3</a:t>
                      </a:r>
                      <a:r>
                        <a:rPr lang="ko-KR" altLang="en-US" sz="1400" dirty="0"/>
                        <a:t>명</a:t>
                      </a:r>
                      <a:endParaRPr lang="en-US" altLang="ko-KR" sz="1400" dirty="0"/>
                    </a:p>
                    <a:p>
                      <a:pPr algn="ctr" latinLnBrk="1"/>
                      <a:r>
                        <a:rPr lang="ko-KR" altLang="en-US" sz="1400" dirty="0"/>
                        <a:t>주재원 </a:t>
                      </a:r>
                      <a:r>
                        <a:rPr lang="en-US" altLang="ko-KR" sz="1400" dirty="0"/>
                        <a:t>3</a:t>
                      </a:r>
                      <a:r>
                        <a:rPr lang="ko-KR" altLang="en-US" sz="1400" dirty="0"/>
                        <a:t>명 </a:t>
                      </a:r>
                      <a:r>
                        <a:rPr lang="en-US" altLang="ko-KR" sz="1400" dirty="0"/>
                        <a:t>(</a:t>
                      </a:r>
                      <a:r>
                        <a:rPr lang="ko-KR" altLang="en-US" sz="1400" dirty="0"/>
                        <a:t>교육</a:t>
                      </a:r>
                      <a:r>
                        <a:rPr lang="en-US" altLang="ko-KR" sz="1400" dirty="0"/>
                        <a:t>, </a:t>
                      </a:r>
                      <a:r>
                        <a:rPr lang="ko-KR" altLang="en-US" sz="1400" dirty="0"/>
                        <a:t>기술지원</a:t>
                      </a:r>
                      <a:r>
                        <a:rPr lang="en-US" altLang="ko-KR" sz="1400" dirty="0"/>
                        <a:t>, CS)</a:t>
                      </a:r>
                    </a:p>
                  </a:txBody>
                  <a:tcPr anchor="ctr"/>
                </a:tc>
                <a:tc>
                  <a:txBody>
                    <a:bodyPr/>
                    <a:lstStyle/>
                    <a:p>
                      <a:pPr algn="ctr" latinLnBrk="1"/>
                      <a:r>
                        <a:rPr lang="en-US" altLang="ko-KR" sz="1400" dirty="0"/>
                        <a:t>530</a:t>
                      </a:r>
                      <a:endParaRPr lang="ko-KR" altLang="en-US" sz="1400" dirty="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65800514"/>
                  </a:ext>
                </a:extLst>
              </a:tr>
              <a:tr h="809890">
                <a:tc>
                  <a:txBody>
                    <a:bodyPr/>
                    <a:lstStyle/>
                    <a:p>
                      <a:pPr algn="ctr" latinLnBrk="1"/>
                      <a:r>
                        <a:rPr lang="en-US" altLang="ko-KR" sz="1400" dirty="0"/>
                        <a:t>2027</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en-US" altLang="ko-KR" sz="1400" dirty="0"/>
                        <a:t>+4</a:t>
                      </a:r>
                      <a:r>
                        <a:rPr lang="ko-KR" altLang="en-US" sz="1400" dirty="0"/>
                        <a:t>명 </a:t>
                      </a:r>
                      <a:r>
                        <a:rPr lang="en-US" altLang="ko-KR" sz="1400" dirty="0"/>
                        <a:t>(</a:t>
                      </a:r>
                      <a:r>
                        <a:rPr lang="ko-KR" altLang="en-US" sz="1400" dirty="0"/>
                        <a:t>총 </a:t>
                      </a:r>
                      <a:r>
                        <a:rPr lang="en-US" altLang="ko-KR" sz="1400" dirty="0"/>
                        <a:t>12</a:t>
                      </a:r>
                      <a:r>
                        <a:rPr lang="ko-KR" altLang="en-US" sz="1400" dirty="0"/>
                        <a:t>명</a:t>
                      </a:r>
                      <a:r>
                        <a:rPr lang="en-US" altLang="ko-KR" sz="1400" dirty="0"/>
                        <a:t>)</a:t>
                      </a:r>
                    </a:p>
                  </a:txBody>
                  <a:tcPr anchor="ctr"/>
                </a:tc>
                <a:tc>
                  <a:txBody>
                    <a:bodyPr/>
                    <a:lstStyle/>
                    <a:p>
                      <a:pPr algn="ctr" latinLnBrk="1"/>
                      <a:r>
                        <a:rPr lang="ko-KR" altLang="en-US" sz="1400" dirty="0"/>
                        <a:t>영업 </a:t>
                      </a:r>
                      <a:r>
                        <a:rPr lang="en-US" altLang="ko-KR" sz="1400" dirty="0"/>
                        <a:t>1</a:t>
                      </a:r>
                      <a:r>
                        <a:rPr lang="ko-KR" altLang="en-US" sz="1400" dirty="0"/>
                        <a:t>명</a:t>
                      </a:r>
                      <a:endParaRPr lang="en-US" altLang="ko-KR" sz="1400" dirty="0"/>
                    </a:p>
                    <a:p>
                      <a:pPr algn="ctr" latinLnBrk="1"/>
                      <a:r>
                        <a:rPr lang="ko-KR" altLang="en-US" sz="1400" dirty="0"/>
                        <a:t>경리 </a:t>
                      </a:r>
                      <a:r>
                        <a:rPr lang="en-US" altLang="ko-KR" sz="1400" dirty="0"/>
                        <a:t>1</a:t>
                      </a:r>
                      <a:r>
                        <a:rPr lang="ko-KR" altLang="en-US" sz="1400" dirty="0"/>
                        <a:t>명</a:t>
                      </a:r>
                      <a:endParaRPr lang="en-US" altLang="ko-KR" sz="1400" dirty="0"/>
                    </a:p>
                    <a:p>
                      <a:pPr algn="ctr" latinLnBrk="1"/>
                      <a:r>
                        <a:rPr lang="ko-KR" altLang="en-US" sz="1400" dirty="0"/>
                        <a:t>조립 기술자 </a:t>
                      </a:r>
                      <a:r>
                        <a:rPr lang="en-US" altLang="ko-KR" sz="1400" dirty="0"/>
                        <a:t>2</a:t>
                      </a:r>
                      <a:r>
                        <a:rPr lang="ko-KR" altLang="en-US" sz="1400" dirty="0"/>
                        <a:t>명</a:t>
                      </a:r>
                      <a:endParaRPr lang="en-US" altLang="ko-KR" sz="1400" dirty="0"/>
                    </a:p>
                  </a:txBody>
                  <a:tcPr anchor="ctr"/>
                </a:tc>
                <a:tc>
                  <a:txBody>
                    <a:bodyPr/>
                    <a:lstStyle/>
                    <a:p>
                      <a:pPr algn="ctr" latinLnBrk="1"/>
                      <a:r>
                        <a:rPr lang="en-US" altLang="ko-KR" sz="1400" dirty="0"/>
                        <a:t>750</a:t>
                      </a:r>
                      <a:endParaRPr lang="ko-KR" altLang="en-US" sz="1400" dirty="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6275245"/>
                  </a:ext>
                </a:extLst>
              </a:tr>
              <a:tr h="809890">
                <a:tc>
                  <a:txBody>
                    <a:bodyPr/>
                    <a:lstStyle/>
                    <a:p>
                      <a:pPr algn="ctr" latinLnBrk="1"/>
                      <a:r>
                        <a:rPr lang="en-US" altLang="ko-KR" sz="1400" dirty="0"/>
                        <a:t>2028</a:t>
                      </a:r>
                      <a:endParaRPr lang="ko-KR" altLang="en-US" sz="1400" dirty="0"/>
                    </a:p>
                  </a:txBody>
                  <a:tcPr anchor="ctr">
                    <a:lnL w="12700" cap="flat" cmpd="sng" algn="ctr">
                      <a:solidFill>
                        <a:schemeClr val="tx1"/>
                      </a:solidFill>
                      <a:prstDash val="solid"/>
                      <a:round/>
                      <a:headEnd type="none" w="med" len="med"/>
                      <a:tailEnd type="none" w="med" len="med"/>
                    </a:lnL>
                  </a:tcPr>
                </a:tc>
                <a:tc>
                  <a:txBody>
                    <a:bodyPr/>
                    <a:lstStyle/>
                    <a:p>
                      <a:pPr algn="ctr" latinLnBrk="1"/>
                      <a:r>
                        <a:rPr lang="en-US" altLang="ko-KR" sz="1400" dirty="0"/>
                        <a:t>+4</a:t>
                      </a:r>
                      <a:r>
                        <a:rPr lang="ko-KR" altLang="en-US" sz="1400" dirty="0"/>
                        <a:t>명 </a:t>
                      </a:r>
                      <a:r>
                        <a:rPr lang="en-US" altLang="ko-KR" sz="1400" dirty="0"/>
                        <a:t>(</a:t>
                      </a:r>
                      <a:r>
                        <a:rPr lang="ko-KR" altLang="en-US" sz="1400" dirty="0"/>
                        <a:t>총 </a:t>
                      </a:r>
                      <a:r>
                        <a:rPr lang="en-US" altLang="ko-KR" sz="1400" dirty="0"/>
                        <a:t>16</a:t>
                      </a:r>
                      <a:r>
                        <a:rPr lang="ko-KR" altLang="en-US" sz="1400" dirty="0"/>
                        <a:t>명</a:t>
                      </a:r>
                      <a:r>
                        <a:rPr lang="en-US" altLang="ko-KR" sz="1400" dirty="0"/>
                        <a:t>)</a:t>
                      </a:r>
                      <a:endParaRPr lang="ko-KR" altLang="en-US" sz="1400" dirty="0"/>
                    </a:p>
                  </a:txBody>
                  <a:tcPr anchor="ctr"/>
                </a:tc>
                <a:tc>
                  <a:txBody>
                    <a:bodyPr/>
                    <a:lstStyle/>
                    <a:p>
                      <a:pPr algn="ctr" latinLnBrk="1"/>
                      <a:r>
                        <a:rPr lang="ko-KR" altLang="en-US" sz="1400" dirty="0"/>
                        <a:t>현장관리 및 </a:t>
                      </a:r>
                      <a:r>
                        <a:rPr lang="en-US" altLang="ko-KR" sz="1400" dirty="0"/>
                        <a:t>PM 2</a:t>
                      </a:r>
                      <a:r>
                        <a:rPr lang="ko-KR" altLang="en-US" sz="1400" dirty="0"/>
                        <a:t>명</a:t>
                      </a:r>
                      <a:endParaRPr lang="en-US" altLang="ko-KR" sz="1400" dirty="0"/>
                    </a:p>
                    <a:p>
                      <a:pPr algn="ctr" latinLnBrk="1"/>
                      <a:r>
                        <a:rPr lang="ko-KR" altLang="en-US" sz="1400" dirty="0"/>
                        <a:t>기술교육 </a:t>
                      </a:r>
                      <a:r>
                        <a:rPr lang="en-US" altLang="ko-KR" sz="1400" dirty="0"/>
                        <a:t>1</a:t>
                      </a:r>
                      <a:r>
                        <a:rPr lang="ko-KR" altLang="en-US" sz="1400" dirty="0"/>
                        <a:t>명</a:t>
                      </a:r>
                      <a:endParaRPr lang="en-US" altLang="ko-KR" sz="1400" dirty="0"/>
                    </a:p>
                    <a:p>
                      <a:pPr algn="ctr" latinLnBrk="1"/>
                      <a:r>
                        <a:rPr lang="en-US" altLang="ko-KR" sz="1400" dirty="0"/>
                        <a:t>CS 1</a:t>
                      </a:r>
                      <a:r>
                        <a:rPr lang="ko-KR" altLang="en-US" sz="1400" dirty="0"/>
                        <a:t>명</a:t>
                      </a:r>
                    </a:p>
                  </a:txBody>
                  <a:tcPr anchor="ctr"/>
                </a:tc>
                <a:tc>
                  <a:txBody>
                    <a:bodyPr/>
                    <a:lstStyle/>
                    <a:p>
                      <a:pPr algn="ctr" latinLnBrk="1"/>
                      <a:r>
                        <a:rPr lang="en-US" altLang="ko-KR" sz="1400" dirty="0"/>
                        <a:t>1,200</a:t>
                      </a:r>
                      <a:endParaRPr lang="ko-KR" altLang="en-US" sz="1400" dirty="0"/>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7247869"/>
                  </a:ext>
                </a:extLst>
              </a:tr>
              <a:tr h="809890">
                <a:tc>
                  <a:txBody>
                    <a:bodyPr/>
                    <a:lstStyle/>
                    <a:p>
                      <a:pPr algn="ctr" latinLnBrk="1"/>
                      <a:r>
                        <a:rPr lang="en-US" altLang="ko-KR" sz="1400" dirty="0"/>
                        <a:t>2029</a:t>
                      </a:r>
                      <a:endParaRPr lang="ko-KR" altLang="en-US" sz="14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latinLnBrk="1"/>
                      <a:r>
                        <a:rPr lang="en-US" altLang="ko-KR" sz="1400" dirty="0"/>
                        <a:t>+3</a:t>
                      </a:r>
                      <a:r>
                        <a:rPr lang="ko-KR" altLang="en-US" sz="1400" dirty="0"/>
                        <a:t>명 </a:t>
                      </a:r>
                      <a:r>
                        <a:rPr lang="en-US" altLang="ko-KR" sz="1400" dirty="0"/>
                        <a:t>(</a:t>
                      </a:r>
                      <a:r>
                        <a:rPr lang="ko-KR" altLang="en-US" sz="1400" dirty="0"/>
                        <a:t>총 </a:t>
                      </a:r>
                      <a:r>
                        <a:rPr lang="en-US" altLang="ko-KR" sz="1400" dirty="0"/>
                        <a:t>19</a:t>
                      </a:r>
                      <a:r>
                        <a:rPr lang="ko-KR" altLang="en-US" sz="1400" dirty="0"/>
                        <a:t>명</a:t>
                      </a:r>
                      <a:r>
                        <a:rPr lang="en-US" altLang="ko-KR" sz="1400" dirty="0"/>
                        <a:t>)</a:t>
                      </a:r>
                      <a:endParaRPr lang="ko-KR" altLang="en-US" sz="1400" dirty="0"/>
                    </a:p>
                  </a:txBody>
                  <a:tcPr anchor="ctr">
                    <a:lnB w="12700" cap="flat" cmpd="sng" algn="ctr">
                      <a:solidFill>
                        <a:schemeClr val="tx1"/>
                      </a:solidFill>
                      <a:prstDash val="solid"/>
                      <a:round/>
                      <a:headEnd type="none" w="med" len="med"/>
                      <a:tailEnd type="none" w="med" len="med"/>
                    </a:lnB>
                  </a:tcPr>
                </a:tc>
                <a:tc>
                  <a:txBody>
                    <a:bodyPr/>
                    <a:lstStyle/>
                    <a:p>
                      <a:pPr algn="ctr" latinLnBrk="1"/>
                      <a:r>
                        <a:rPr lang="ko-KR" altLang="en-US" sz="1400" dirty="0"/>
                        <a:t>팀 리더 </a:t>
                      </a:r>
                      <a:r>
                        <a:rPr lang="en-US" altLang="ko-KR" sz="1400" dirty="0"/>
                        <a:t>1</a:t>
                      </a:r>
                      <a:r>
                        <a:rPr lang="ko-KR" altLang="en-US" sz="1400" dirty="0"/>
                        <a:t>명</a:t>
                      </a:r>
                      <a:endParaRPr lang="en-US" altLang="ko-KR" sz="1400" dirty="0"/>
                    </a:p>
                    <a:p>
                      <a:pPr algn="ctr" latinLnBrk="1"/>
                      <a:r>
                        <a:rPr lang="en-US" altLang="ko-KR" sz="1400" dirty="0"/>
                        <a:t>HR</a:t>
                      </a:r>
                      <a:r>
                        <a:rPr lang="ko-KR" altLang="en-US" sz="1400" dirty="0"/>
                        <a:t> </a:t>
                      </a:r>
                      <a:r>
                        <a:rPr lang="en-US" altLang="ko-KR" sz="1400" dirty="0"/>
                        <a:t>1</a:t>
                      </a:r>
                      <a:r>
                        <a:rPr lang="ko-KR" altLang="en-US" sz="1400" dirty="0"/>
                        <a:t>명</a:t>
                      </a:r>
                      <a:endParaRPr lang="en-US" altLang="ko-KR" sz="1400" dirty="0"/>
                    </a:p>
                    <a:p>
                      <a:pPr algn="ctr" latinLnBrk="1"/>
                      <a:r>
                        <a:rPr lang="ko-KR" altLang="en-US" sz="1400" dirty="0"/>
                        <a:t>영업 </a:t>
                      </a:r>
                      <a:r>
                        <a:rPr lang="en-US" altLang="ko-KR" sz="1400" dirty="0"/>
                        <a:t>1</a:t>
                      </a:r>
                      <a:r>
                        <a:rPr lang="ko-KR" altLang="en-US" sz="1400" dirty="0"/>
                        <a:t>명</a:t>
                      </a:r>
                      <a:endParaRPr lang="en-US" altLang="ko-KR" sz="1400" dirty="0"/>
                    </a:p>
                  </a:txBody>
                  <a:tcPr anchor="ctr">
                    <a:lnB w="12700" cap="flat" cmpd="sng" algn="ctr">
                      <a:solidFill>
                        <a:schemeClr val="tx1"/>
                      </a:solidFill>
                      <a:prstDash val="solid"/>
                      <a:round/>
                      <a:headEnd type="none" w="med" len="med"/>
                      <a:tailEnd type="none" w="med" len="med"/>
                    </a:lnB>
                  </a:tcPr>
                </a:tc>
                <a:tc>
                  <a:txBody>
                    <a:bodyPr/>
                    <a:lstStyle/>
                    <a:p>
                      <a:pPr algn="ctr" latinLnBrk="1"/>
                      <a:r>
                        <a:rPr lang="en-US" altLang="ko-KR" sz="1400" dirty="0"/>
                        <a:t>1,500</a:t>
                      </a:r>
                      <a:endParaRPr lang="ko-KR" altLang="en-US" sz="14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28455"/>
                  </a:ext>
                </a:extLst>
              </a:tr>
            </a:tbl>
          </a:graphicData>
        </a:graphic>
      </p:graphicFrame>
      <p:graphicFrame>
        <p:nvGraphicFramePr>
          <p:cNvPr id="8" name="표 7">
            <a:extLst>
              <a:ext uri="{FF2B5EF4-FFF2-40B4-BE49-F238E27FC236}">
                <a16:creationId xmlns:a16="http://schemas.microsoft.com/office/drawing/2014/main" id="{6C864305-04BE-A39A-BA38-A126E02CDDDD}"/>
              </a:ext>
            </a:extLst>
          </p:cNvPr>
          <p:cNvGraphicFramePr>
            <a:graphicFrameLocks noGrp="1"/>
          </p:cNvGraphicFramePr>
          <p:nvPr>
            <p:extLst>
              <p:ext uri="{D42A27DB-BD31-4B8C-83A1-F6EECF244321}">
                <p14:modId xmlns:p14="http://schemas.microsoft.com/office/powerpoint/2010/main" val="3299972653"/>
              </p:ext>
            </p:extLst>
          </p:nvPr>
        </p:nvGraphicFramePr>
        <p:xfrm>
          <a:off x="515939" y="909643"/>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indent="0">
                        <a:buFontTx/>
                        <a:buNone/>
                      </a:pPr>
                      <a:r>
                        <a:rPr lang="en-US" altLang="ko-KR" sz="1600" dirty="0">
                          <a:solidFill>
                            <a:prstClr val="white"/>
                          </a:solidFill>
                          <a:latin typeface="+mn-lt"/>
                          <a:ea typeface="+mn-ea"/>
                        </a:rPr>
                        <a:t>4. </a:t>
                      </a:r>
                      <a:r>
                        <a:rPr lang="ko-KR" altLang="en-US" sz="1600" dirty="0">
                          <a:solidFill>
                            <a:prstClr val="white"/>
                          </a:solidFill>
                          <a:latin typeface="+mn-lt"/>
                          <a:ea typeface="+mn-ea"/>
                        </a:rPr>
                        <a:t>고용 계획</a:t>
                      </a:r>
                      <a:endParaRPr kumimoji="0" lang="ko-KR" altLang="en-US" sz="1600" b="0" i="0" u="none" strike="noStrike" kern="1200" cap="none" spc="0" normalizeH="0" baseline="0" noProof="0" dirty="0">
                        <a:ln>
                          <a:noFill/>
                        </a:ln>
                        <a:solidFill>
                          <a:prstClr val="white"/>
                        </a:solidFill>
                        <a:effectLst/>
                        <a:uLnTx/>
                        <a:uFillTx/>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spTree>
    <p:extLst>
      <p:ext uri="{BB962C8B-B14F-4D97-AF65-F5344CB8AC3E}">
        <p14:creationId xmlns:p14="http://schemas.microsoft.com/office/powerpoint/2010/main" val="328254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2DE0D-0102-BB16-7DFA-116278BF2A26}"/>
            </a:ext>
          </a:extLst>
        </p:cNvPr>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957249BE-6D07-1E33-7FC7-116FD4DFC88D}"/>
              </a:ext>
            </a:extLst>
          </p:cNvPr>
          <p:cNvGraphicFramePr>
            <a:graphicFrameLocks noGrp="1"/>
          </p:cNvGraphicFramePr>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4C0CC300-9AE6-C9A6-0771-9D767BA9B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AB28ABE2-0288-0D7A-3105-E7FDB5E3B5F7}"/>
              </a:ext>
            </a:extLst>
          </p:cNvPr>
          <p:cNvGraphicFramePr>
            <a:graphicFrameLocks noGrp="1"/>
          </p:cNvGraphicFramePr>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graphicFrame>
        <p:nvGraphicFramePr>
          <p:cNvPr id="7" name="표 6">
            <a:extLst>
              <a:ext uri="{FF2B5EF4-FFF2-40B4-BE49-F238E27FC236}">
                <a16:creationId xmlns:a16="http://schemas.microsoft.com/office/drawing/2014/main" id="{53A3B37F-A8E7-014B-2C54-A376581BDE44}"/>
              </a:ext>
            </a:extLst>
          </p:cNvPr>
          <p:cNvGraphicFramePr>
            <a:graphicFrameLocks noGrp="1"/>
          </p:cNvGraphicFramePr>
          <p:nvPr>
            <p:extLst>
              <p:ext uri="{D42A27DB-BD31-4B8C-83A1-F6EECF244321}">
                <p14:modId xmlns:p14="http://schemas.microsoft.com/office/powerpoint/2010/main" val="1678006051"/>
              </p:ext>
            </p:extLst>
          </p:nvPr>
        </p:nvGraphicFramePr>
        <p:xfrm>
          <a:off x="515937" y="1449387"/>
          <a:ext cx="11160124" cy="4859337"/>
        </p:xfrm>
        <a:graphic>
          <a:graphicData uri="http://schemas.openxmlformats.org/drawingml/2006/table">
            <a:tbl>
              <a:tblPr firstRow="1" bandRow="1">
                <a:tableStyleId>{C083E6E3-FA7D-4D7B-A595-EF9225AFEA82}</a:tableStyleId>
              </a:tblPr>
              <a:tblGrid>
                <a:gridCol w="1397269">
                  <a:extLst>
                    <a:ext uri="{9D8B030D-6E8A-4147-A177-3AD203B41FA5}">
                      <a16:colId xmlns:a16="http://schemas.microsoft.com/office/drawing/2014/main" val="3435986232"/>
                    </a:ext>
                  </a:extLst>
                </a:gridCol>
                <a:gridCol w="1952571">
                  <a:extLst>
                    <a:ext uri="{9D8B030D-6E8A-4147-A177-3AD203B41FA5}">
                      <a16:colId xmlns:a16="http://schemas.microsoft.com/office/drawing/2014/main" val="228304769"/>
                    </a:ext>
                  </a:extLst>
                </a:gridCol>
                <a:gridCol w="1952571">
                  <a:extLst>
                    <a:ext uri="{9D8B030D-6E8A-4147-A177-3AD203B41FA5}">
                      <a16:colId xmlns:a16="http://schemas.microsoft.com/office/drawing/2014/main" val="2313295"/>
                    </a:ext>
                  </a:extLst>
                </a:gridCol>
                <a:gridCol w="1952571">
                  <a:extLst>
                    <a:ext uri="{9D8B030D-6E8A-4147-A177-3AD203B41FA5}">
                      <a16:colId xmlns:a16="http://schemas.microsoft.com/office/drawing/2014/main" val="2344394290"/>
                    </a:ext>
                  </a:extLst>
                </a:gridCol>
                <a:gridCol w="1952571">
                  <a:extLst>
                    <a:ext uri="{9D8B030D-6E8A-4147-A177-3AD203B41FA5}">
                      <a16:colId xmlns:a16="http://schemas.microsoft.com/office/drawing/2014/main" val="242127817"/>
                    </a:ext>
                  </a:extLst>
                </a:gridCol>
                <a:gridCol w="1952571">
                  <a:extLst>
                    <a:ext uri="{9D8B030D-6E8A-4147-A177-3AD203B41FA5}">
                      <a16:colId xmlns:a16="http://schemas.microsoft.com/office/drawing/2014/main" val="511080098"/>
                    </a:ext>
                  </a:extLst>
                </a:gridCol>
              </a:tblGrid>
              <a:tr h="694191">
                <a:tc>
                  <a:txBody>
                    <a:bodyPr/>
                    <a:lstStyle/>
                    <a:p>
                      <a:pPr algn="l" latinLnBrk="1"/>
                      <a:r>
                        <a:rPr lang="ko-KR" altLang="en-US" sz="1600" dirty="0"/>
                        <a:t>항목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2025</a:t>
                      </a:r>
                      <a:endParaRPr lang="ko-KR" altLang="en-US" sz="1600" dirty="0"/>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2026</a:t>
                      </a:r>
                      <a:endParaRPr lang="ko-KR" altLang="en-US" sz="1600" dirty="0"/>
                    </a:p>
                  </a:txBody>
                  <a:tcPr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2027</a:t>
                      </a:r>
                      <a:endParaRPr lang="ko-KR" altLang="en-US" sz="1600" dirty="0"/>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2028</a:t>
                      </a: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2029</a:t>
                      </a:r>
                      <a:endParaRPr lang="ko-KR"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3648885035"/>
                  </a:ext>
                </a:extLst>
              </a:tr>
              <a:tr h="694191">
                <a:tc>
                  <a:txBody>
                    <a:bodyPr/>
                    <a:lstStyle/>
                    <a:p>
                      <a:pPr algn="l" latinLnBrk="1"/>
                      <a:r>
                        <a:rPr lang="ko-KR" altLang="en-US" sz="1400" dirty="0"/>
                        <a:t>매출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400</a:t>
                      </a:r>
                      <a:endParaRPr lang="ko-KR" altLang="en-US" sz="1400" dirty="0"/>
                    </a:p>
                  </a:txBody>
                  <a:tcPr anchor="ctr">
                    <a:lnL w="12700" cap="flat" cmpd="sng" algn="ctr">
                      <a:solidFill>
                        <a:schemeClr val="tx1"/>
                      </a:solid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1,000</a:t>
                      </a:r>
                      <a:endParaRPr lang="ko-KR" altLang="en-US" sz="1400" dirty="0"/>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2,000</a:t>
                      </a:r>
                      <a:endParaRPr lang="ko-KR" altLang="en-US" sz="1400" dirty="0"/>
                    </a:p>
                  </a:txBody>
                  <a:tcPr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3,500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5,000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76753150"/>
                  </a:ext>
                </a:extLst>
              </a:tr>
              <a:tr h="694191">
                <a:tc>
                  <a:txBody>
                    <a:bodyPr/>
                    <a:lstStyle/>
                    <a:p>
                      <a:pPr algn="l" latinLnBrk="1"/>
                      <a:r>
                        <a:rPr lang="ko-KR" altLang="en-US" sz="1400" dirty="0"/>
                        <a:t>매출원가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300</a:t>
                      </a:r>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500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700</a:t>
                      </a:r>
                      <a:endParaRPr lang="ko-KR"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1,200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1,500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65800514"/>
                  </a:ext>
                </a:extLst>
              </a:tr>
              <a:tr h="694191">
                <a:tc>
                  <a:txBody>
                    <a:bodyPr/>
                    <a:lstStyle/>
                    <a:p>
                      <a:pPr algn="l" latinLnBrk="1"/>
                      <a:r>
                        <a:rPr lang="ko-KR" altLang="en-US" sz="1400" dirty="0"/>
                        <a:t>총매출이익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100</a:t>
                      </a:r>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500</a:t>
                      </a:r>
                      <a:endParaRPr lang="ko-KR" altLang="en-US" sz="14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1,300</a:t>
                      </a:r>
                      <a:endParaRPr lang="ko-KR"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2,300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3,500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26275245"/>
                  </a:ext>
                </a:extLst>
              </a:tr>
              <a:tr h="694191">
                <a:tc>
                  <a:txBody>
                    <a:bodyPr/>
                    <a:lstStyle/>
                    <a:p>
                      <a:pPr algn="l" latinLnBrk="1"/>
                      <a:r>
                        <a:rPr lang="ko-KR" altLang="en-US" sz="1400" dirty="0"/>
                        <a:t>운영비용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200</a:t>
                      </a:r>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250</a:t>
                      </a:r>
                      <a:endParaRPr lang="ko-KR" altLang="en-US" sz="14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500</a:t>
                      </a:r>
                      <a:endParaRPr lang="ko-KR"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700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1,000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7247869"/>
                  </a:ext>
                </a:extLst>
              </a:tr>
              <a:tr h="694191">
                <a:tc>
                  <a:txBody>
                    <a:bodyPr/>
                    <a:lstStyle/>
                    <a:p>
                      <a:pPr algn="l" latinLnBrk="1"/>
                      <a:r>
                        <a:rPr lang="ko-KR" altLang="en-US" sz="1400" dirty="0"/>
                        <a:t>영업이익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-100</a:t>
                      </a:r>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250</a:t>
                      </a:r>
                      <a:endParaRPr lang="ko-KR" altLang="en-US" sz="1400" dirty="0"/>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800</a:t>
                      </a:r>
                      <a:endParaRPr lang="ko-KR" alt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1,600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2,500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228455"/>
                  </a:ext>
                </a:extLst>
              </a:tr>
              <a:tr h="694191">
                <a:tc>
                  <a:txBody>
                    <a:bodyPr/>
                    <a:lstStyle/>
                    <a:p>
                      <a:pPr algn="l" latinLnBrk="1"/>
                      <a:r>
                        <a:rPr lang="ko-KR" altLang="en-US" sz="1400" dirty="0" err="1"/>
                        <a:t>세전</a:t>
                      </a:r>
                      <a:r>
                        <a:rPr lang="ko-KR" altLang="en-US" sz="1400" dirty="0"/>
                        <a:t> 순이익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3030870"/>
                  </a:ext>
                </a:extLst>
              </a:tr>
            </a:tbl>
          </a:graphicData>
        </a:graphic>
      </p:graphicFrame>
      <p:graphicFrame>
        <p:nvGraphicFramePr>
          <p:cNvPr id="6" name="표 5">
            <a:extLst>
              <a:ext uri="{FF2B5EF4-FFF2-40B4-BE49-F238E27FC236}">
                <a16:creationId xmlns:a16="http://schemas.microsoft.com/office/drawing/2014/main" id="{1305F6E0-950D-3A2E-8E1F-A76069BF54E9}"/>
              </a:ext>
            </a:extLst>
          </p:cNvPr>
          <p:cNvGraphicFramePr>
            <a:graphicFrameLocks noGrp="1"/>
          </p:cNvGraphicFramePr>
          <p:nvPr>
            <p:extLst>
              <p:ext uri="{D42A27DB-BD31-4B8C-83A1-F6EECF244321}">
                <p14:modId xmlns:p14="http://schemas.microsoft.com/office/powerpoint/2010/main" val="1877821097"/>
              </p:ext>
            </p:extLst>
          </p:nvPr>
        </p:nvGraphicFramePr>
        <p:xfrm>
          <a:off x="515939" y="908050"/>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solidFill>
                          <a:effectLst/>
                          <a:uLnTx/>
                          <a:uFillTx/>
                          <a:latin typeface="+mn-lt"/>
                          <a:ea typeface="+mn-ea"/>
                          <a:cs typeface="+mn-cs"/>
                        </a:rPr>
                        <a:t>5. </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손익계산서 </a:t>
                      </a:r>
                      <a:r>
                        <a:rPr kumimoji="0" lang="en-US" altLang="ko-KR" sz="1600" b="0" i="0" u="none" strike="noStrike" kern="1200" cap="none" spc="0" normalizeH="0" baseline="0" noProof="0" dirty="0">
                          <a:ln>
                            <a:noFill/>
                          </a:ln>
                          <a:solidFill>
                            <a:prstClr val="white"/>
                          </a:solidFill>
                          <a:effectLst/>
                          <a:uLnTx/>
                          <a:uFillTx/>
                          <a:latin typeface="+mn-lt"/>
                          <a:ea typeface="+mn-ea"/>
                          <a:cs typeface="+mn-cs"/>
                        </a:rPr>
                        <a:t>(</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예상</a:t>
                      </a:r>
                      <a:r>
                        <a:rPr kumimoji="0" lang="en-US" altLang="ko-KR" sz="1600" b="0" i="0" u="none" strike="noStrike" kern="1200" cap="none" spc="0" normalizeH="0" baseline="0" noProof="0" dirty="0">
                          <a:ln>
                            <a:noFill/>
                          </a:ln>
                          <a:solidFill>
                            <a:prstClr val="white"/>
                          </a:solidFill>
                          <a:effectLst/>
                          <a:uLnTx/>
                          <a:uFillTx/>
                          <a:latin typeface="+mn-lt"/>
                          <a:ea typeface="+mn-ea"/>
                          <a:cs typeface="+mn-cs"/>
                        </a:rPr>
                        <a:t>)</a:t>
                      </a:r>
                      <a:endParaRPr kumimoji="0" lang="ko-KR" altLang="en-US" sz="1600" b="0" i="0" u="none" strike="noStrike" kern="1200" cap="none" spc="0" normalizeH="0" baseline="0" noProof="0" dirty="0">
                        <a:ln>
                          <a:noFill/>
                        </a:ln>
                        <a:solidFill>
                          <a:prstClr val="white"/>
                        </a:solidFill>
                        <a:effectLst/>
                        <a:uLnTx/>
                        <a:uFillTx/>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r>
                        <a:rPr lang="ko-KR" altLang="en-US" sz="1400" dirty="0"/>
                        <a:t>단위 </a:t>
                      </a:r>
                      <a:r>
                        <a:rPr lang="en-US" altLang="ko-KR" sz="1400" dirty="0"/>
                        <a:t>: 1,000 USD</a:t>
                      </a:r>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spTree>
    <p:extLst>
      <p:ext uri="{BB962C8B-B14F-4D97-AF65-F5344CB8AC3E}">
        <p14:creationId xmlns:p14="http://schemas.microsoft.com/office/powerpoint/2010/main" val="4278828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2C8A9-1767-C849-737B-90C84141C076}"/>
            </a:ext>
          </a:extLst>
        </p:cNvPr>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04EA4DFF-FFD5-61AF-5EF8-BF846E853901}"/>
              </a:ext>
            </a:extLst>
          </p:cNvPr>
          <p:cNvGraphicFramePr>
            <a:graphicFrameLocks noGrp="1"/>
          </p:cNvGraphicFramePr>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ED00DF41-998A-9E09-D7FA-B09531A9F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86623BBE-5339-4E91-E286-B3A4047255B5}"/>
              </a:ext>
            </a:extLst>
          </p:cNvPr>
          <p:cNvGraphicFramePr>
            <a:graphicFrameLocks noGrp="1"/>
          </p:cNvGraphicFramePr>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graphicFrame>
        <p:nvGraphicFramePr>
          <p:cNvPr id="7" name="표 6">
            <a:extLst>
              <a:ext uri="{FF2B5EF4-FFF2-40B4-BE49-F238E27FC236}">
                <a16:creationId xmlns:a16="http://schemas.microsoft.com/office/drawing/2014/main" id="{F6601CA3-595F-DAA0-CBDA-CE1C8330A180}"/>
              </a:ext>
            </a:extLst>
          </p:cNvPr>
          <p:cNvGraphicFramePr>
            <a:graphicFrameLocks noGrp="1"/>
          </p:cNvGraphicFramePr>
          <p:nvPr>
            <p:extLst>
              <p:ext uri="{D42A27DB-BD31-4B8C-83A1-F6EECF244321}">
                <p14:modId xmlns:p14="http://schemas.microsoft.com/office/powerpoint/2010/main" val="2234086199"/>
              </p:ext>
            </p:extLst>
          </p:nvPr>
        </p:nvGraphicFramePr>
        <p:xfrm>
          <a:off x="515937" y="1449387"/>
          <a:ext cx="11160124" cy="4859337"/>
        </p:xfrm>
        <a:graphic>
          <a:graphicData uri="http://schemas.openxmlformats.org/drawingml/2006/table">
            <a:tbl>
              <a:tblPr firstRow="1" bandRow="1">
                <a:tableStyleId>{C083E6E3-FA7D-4D7B-A595-EF9225AFEA82}</a:tableStyleId>
              </a:tblPr>
              <a:tblGrid>
                <a:gridCol w="1397269">
                  <a:extLst>
                    <a:ext uri="{9D8B030D-6E8A-4147-A177-3AD203B41FA5}">
                      <a16:colId xmlns:a16="http://schemas.microsoft.com/office/drawing/2014/main" val="3435986232"/>
                    </a:ext>
                  </a:extLst>
                </a:gridCol>
                <a:gridCol w="1952571">
                  <a:extLst>
                    <a:ext uri="{9D8B030D-6E8A-4147-A177-3AD203B41FA5}">
                      <a16:colId xmlns:a16="http://schemas.microsoft.com/office/drawing/2014/main" val="228304769"/>
                    </a:ext>
                  </a:extLst>
                </a:gridCol>
                <a:gridCol w="1952571">
                  <a:extLst>
                    <a:ext uri="{9D8B030D-6E8A-4147-A177-3AD203B41FA5}">
                      <a16:colId xmlns:a16="http://schemas.microsoft.com/office/drawing/2014/main" val="2313295"/>
                    </a:ext>
                  </a:extLst>
                </a:gridCol>
                <a:gridCol w="1952571">
                  <a:extLst>
                    <a:ext uri="{9D8B030D-6E8A-4147-A177-3AD203B41FA5}">
                      <a16:colId xmlns:a16="http://schemas.microsoft.com/office/drawing/2014/main" val="2344394290"/>
                    </a:ext>
                  </a:extLst>
                </a:gridCol>
                <a:gridCol w="1952571">
                  <a:extLst>
                    <a:ext uri="{9D8B030D-6E8A-4147-A177-3AD203B41FA5}">
                      <a16:colId xmlns:a16="http://schemas.microsoft.com/office/drawing/2014/main" val="242127817"/>
                    </a:ext>
                  </a:extLst>
                </a:gridCol>
                <a:gridCol w="1952571">
                  <a:extLst>
                    <a:ext uri="{9D8B030D-6E8A-4147-A177-3AD203B41FA5}">
                      <a16:colId xmlns:a16="http://schemas.microsoft.com/office/drawing/2014/main" val="511080098"/>
                    </a:ext>
                  </a:extLst>
                </a:gridCol>
              </a:tblGrid>
              <a:tr h="694191">
                <a:tc>
                  <a:txBody>
                    <a:bodyPr/>
                    <a:lstStyle/>
                    <a:p>
                      <a:pPr algn="l" latinLnBrk="1"/>
                      <a:r>
                        <a:rPr lang="ko-KR" altLang="en-US" sz="1600" dirty="0"/>
                        <a:t>항목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2025</a:t>
                      </a:r>
                      <a:endParaRPr lang="ko-KR" altLang="en-US" sz="1600" dirty="0"/>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2026</a:t>
                      </a:r>
                      <a:endParaRPr lang="ko-KR" altLang="en-US" sz="1600" dirty="0"/>
                    </a:p>
                  </a:txBody>
                  <a:tcPr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2027</a:t>
                      </a:r>
                      <a:endParaRPr lang="ko-KR" altLang="en-US" sz="1600" dirty="0"/>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2028</a:t>
                      </a: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algn="ctr" latinLnBrk="1"/>
                      <a:r>
                        <a:rPr lang="en-US" altLang="ko-KR" sz="1600" dirty="0"/>
                        <a:t>2029</a:t>
                      </a:r>
                      <a:endParaRPr lang="ko-KR"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3648885035"/>
                  </a:ext>
                </a:extLst>
              </a:tr>
              <a:tr h="694191">
                <a:tc>
                  <a:txBody>
                    <a:bodyPr/>
                    <a:lstStyle/>
                    <a:p>
                      <a:pPr algn="l" latinLnBrk="1"/>
                      <a:r>
                        <a:rPr lang="ko-KR" altLang="en-US" sz="1400" dirty="0" err="1"/>
                        <a:t>전기이월현금</a:t>
                      </a:r>
                      <a:endParaRPr lang="ko-KR"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0</a:t>
                      </a:r>
                      <a:endParaRPr lang="ko-KR" altLang="en-US" sz="1400" dirty="0"/>
                    </a:p>
                  </a:txBody>
                  <a:tcPr anchor="ctr">
                    <a:lnL w="12700" cap="flat" cmpd="sng" algn="ctr">
                      <a:solidFill>
                        <a:schemeClr val="tx1"/>
                      </a:solid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400</a:t>
                      </a:r>
                      <a:endParaRPr lang="ko-KR" altLang="en-US" sz="1400" dirty="0"/>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650</a:t>
                      </a:r>
                      <a:endParaRPr lang="ko-KR" altLang="en-US" sz="1400" dirty="0"/>
                    </a:p>
                  </a:txBody>
                  <a:tcPr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1,650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tc>
                  <a:txBody>
                    <a:bodyPr/>
                    <a:lstStyle/>
                    <a:p>
                      <a:pPr algn="ctr" latinLnBrk="1"/>
                      <a:r>
                        <a:rPr lang="en-US" altLang="ko-KR" sz="1400" dirty="0"/>
                        <a:t>3,700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76753150"/>
                  </a:ext>
                </a:extLst>
              </a:tr>
              <a:tr h="694191">
                <a:tc>
                  <a:txBody>
                    <a:bodyPr/>
                    <a:lstStyle/>
                    <a:p>
                      <a:pPr algn="l" latinLnBrk="1"/>
                      <a:r>
                        <a:rPr lang="ko-KR" altLang="en-US" sz="1400" dirty="0"/>
                        <a:t>투자금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500</a:t>
                      </a:r>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0</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0</a:t>
                      </a:r>
                      <a:endParaRPr lang="ko-KR"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65800514"/>
                  </a:ext>
                </a:extLst>
              </a:tr>
              <a:tr h="694191">
                <a:tc>
                  <a:txBody>
                    <a:bodyPr/>
                    <a:lstStyle/>
                    <a:p>
                      <a:pPr algn="l" latinLnBrk="1"/>
                      <a:r>
                        <a:rPr lang="ko-KR" altLang="en-US" sz="1400" dirty="0"/>
                        <a:t>영업이익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-100</a:t>
                      </a:r>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250</a:t>
                      </a:r>
                      <a:endParaRPr lang="ko-KR" altLang="en-US" sz="14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latinLnBrk="1"/>
                      <a:r>
                        <a:rPr lang="en-US" altLang="ko-KR" sz="1400" dirty="0"/>
                        <a:t>800</a:t>
                      </a:r>
                      <a:endParaRPr lang="ko-KR"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1,600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r>
                        <a:rPr lang="en-US" altLang="ko-KR" sz="1400" dirty="0"/>
                        <a:t>2,500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26275245"/>
                  </a:ext>
                </a:extLst>
              </a:tr>
              <a:tr h="694191">
                <a:tc>
                  <a:txBody>
                    <a:bodyPr/>
                    <a:lstStyle/>
                    <a:p>
                      <a:pPr algn="l" latinLnBrk="1"/>
                      <a:endParaRPr lang="ko-KR"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latinLnBrk="1"/>
                      <a:endParaRPr lang="ko-KR" altLang="en-US" sz="14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latinLnBrk="1"/>
                      <a:endParaRPr lang="ko-KR"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7247869"/>
                  </a:ext>
                </a:extLst>
              </a:tr>
              <a:tr h="694191">
                <a:tc>
                  <a:txBody>
                    <a:bodyPr/>
                    <a:lstStyle/>
                    <a:p>
                      <a:pPr algn="l" latinLnBrk="1"/>
                      <a:endParaRPr lang="ko-KR"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228455"/>
                  </a:ext>
                </a:extLst>
              </a:tr>
              <a:tr h="694191">
                <a:tc>
                  <a:txBody>
                    <a:bodyPr/>
                    <a:lstStyle/>
                    <a:p>
                      <a:pPr algn="l" latinLnBrk="1"/>
                      <a:r>
                        <a:rPr lang="ko-KR" altLang="en-US" sz="1400" dirty="0"/>
                        <a:t>현금 보유액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400</a:t>
                      </a:r>
                      <a:endParaRPr lang="ko-KR" altLang="en-US" sz="1400" dirty="0"/>
                    </a:p>
                  </a:txBody>
                  <a:tcPr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650</a:t>
                      </a:r>
                      <a:endParaRPr lang="ko-KR" altLang="en-US" sz="1400" dirty="0"/>
                    </a:p>
                  </a:txBody>
                  <a:tcPr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1,650</a:t>
                      </a:r>
                      <a:endParaRPr lang="ko-KR" altLang="en-US" sz="1400"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3,250</a:t>
                      </a: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400" dirty="0"/>
                        <a:t>6,200</a:t>
                      </a:r>
                      <a:endParaRPr lang="ko-KR"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3030870"/>
                  </a:ext>
                </a:extLst>
              </a:tr>
            </a:tbl>
          </a:graphicData>
        </a:graphic>
      </p:graphicFrame>
      <p:graphicFrame>
        <p:nvGraphicFramePr>
          <p:cNvPr id="6" name="표 5">
            <a:extLst>
              <a:ext uri="{FF2B5EF4-FFF2-40B4-BE49-F238E27FC236}">
                <a16:creationId xmlns:a16="http://schemas.microsoft.com/office/drawing/2014/main" id="{F76CEEC4-221E-B297-8CF6-AE224E0084E6}"/>
              </a:ext>
            </a:extLst>
          </p:cNvPr>
          <p:cNvGraphicFramePr>
            <a:graphicFrameLocks noGrp="1"/>
          </p:cNvGraphicFramePr>
          <p:nvPr>
            <p:extLst>
              <p:ext uri="{D42A27DB-BD31-4B8C-83A1-F6EECF244321}">
                <p14:modId xmlns:p14="http://schemas.microsoft.com/office/powerpoint/2010/main" val="3183448098"/>
              </p:ext>
            </p:extLst>
          </p:nvPr>
        </p:nvGraphicFramePr>
        <p:xfrm>
          <a:off x="515939" y="908050"/>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solidFill>
                          <a:effectLst/>
                          <a:uLnTx/>
                          <a:uFillTx/>
                          <a:latin typeface="+mn-lt"/>
                          <a:ea typeface="+mn-ea"/>
                          <a:cs typeface="+mn-cs"/>
                        </a:rPr>
                        <a:t>6. </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현금 </a:t>
                      </a:r>
                      <a:r>
                        <a:rPr kumimoji="0" lang="ko-KR" altLang="en-US" sz="1600" b="0" i="0" u="none" strike="noStrike" kern="1200" cap="none" spc="0" normalizeH="0" baseline="0" noProof="0" dirty="0" err="1">
                          <a:ln>
                            <a:noFill/>
                          </a:ln>
                          <a:solidFill>
                            <a:prstClr val="white"/>
                          </a:solidFill>
                          <a:effectLst/>
                          <a:uLnTx/>
                          <a:uFillTx/>
                          <a:latin typeface="+mn-lt"/>
                          <a:ea typeface="+mn-ea"/>
                          <a:cs typeface="+mn-cs"/>
                        </a:rPr>
                        <a:t>흐름표</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 </a:t>
                      </a:r>
                      <a:r>
                        <a:rPr kumimoji="0" lang="en-US" altLang="ko-KR" sz="1600" b="0" i="0" u="none" strike="noStrike" kern="1200" cap="none" spc="0" normalizeH="0" baseline="0" noProof="0" dirty="0">
                          <a:ln>
                            <a:noFill/>
                          </a:ln>
                          <a:solidFill>
                            <a:prstClr val="white"/>
                          </a:solidFill>
                          <a:effectLst/>
                          <a:uLnTx/>
                          <a:uFillTx/>
                          <a:latin typeface="+mn-lt"/>
                          <a:ea typeface="+mn-ea"/>
                          <a:cs typeface="+mn-cs"/>
                        </a:rPr>
                        <a:t>(</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예상</a:t>
                      </a:r>
                      <a:r>
                        <a:rPr kumimoji="0" lang="en-US" altLang="ko-KR" sz="1600" b="0" i="0" u="none" strike="noStrike" kern="1200" cap="none" spc="0" normalizeH="0" baseline="0" noProof="0" dirty="0">
                          <a:ln>
                            <a:noFill/>
                          </a:ln>
                          <a:solidFill>
                            <a:prstClr val="white"/>
                          </a:solidFill>
                          <a:effectLst/>
                          <a:uLnTx/>
                          <a:uFillTx/>
                          <a:latin typeface="+mn-lt"/>
                          <a:ea typeface="+mn-ea"/>
                          <a:cs typeface="+mn-cs"/>
                        </a:rPr>
                        <a:t>)</a:t>
                      </a:r>
                      <a:endParaRPr kumimoji="0" lang="ko-KR" altLang="en-US" sz="1600" b="0" i="0" u="none" strike="noStrike" kern="1200" cap="none" spc="0" normalizeH="0" baseline="0" noProof="0" dirty="0">
                        <a:ln>
                          <a:noFill/>
                        </a:ln>
                        <a:solidFill>
                          <a:prstClr val="white"/>
                        </a:solidFill>
                        <a:effectLst/>
                        <a:uLnTx/>
                        <a:uFillTx/>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r>
                        <a:rPr lang="ko-KR" altLang="en-US" sz="1400" dirty="0"/>
                        <a:t>단위 </a:t>
                      </a:r>
                      <a:r>
                        <a:rPr lang="en-US" altLang="ko-KR" sz="1400" dirty="0"/>
                        <a:t>: 1,000 USD</a:t>
                      </a:r>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spTree>
    <p:extLst>
      <p:ext uri="{BB962C8B-B14F-4D97-AF65-F5344CB8AC3E}">
        <p14:creationId xmlns:p14="http://schemas.microsoft.com/office/powerpoint/2010/main" val="1979559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EAF1-E6DB-8004-D651-54F165C44B90}"/>
            </a:ext>
          </a:extLst>
        </p:cNvPr>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8F50E936-A1BC-C961-05A5-9EB9D42A51B3}"/>
              </a:ext>
            </a:extLst>
          </p:cNvPr>
          <p:cNvGraphicFramePr>
            <a:graphicFrameLocks noGrp="1"/>
          </p:cNvGraphicFramePr>
          <p:nvPr/>
        </p:nvGraphicFramePr>
        <p:xfrm>
          <a:off x="0" y="-1"/>
          <a:ext cx="12192000" cy="728664"/>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381076480"/>
                    </a:ext>
                  </a:extLst>
                </a:gridCol>
                <a:gridCol w="2966720">
                  <a:extLst>
                    <a:ext uri="{9D8B030D-6E8A-4147-A177-3AD203B41FA5}">
                      <a16:colId xmlns:a16="http://schemas.microsoft.com/office/drawing/2014/main" val="3658874044"/>
                    </a:ext>
                  </a:extLst>
                </a:gridCol>
                <a:gridCol w="4064000">
                  <a:extLst>
                    <a:ext uri="{9D8B030D-6E8A-4147-A177-3AD203B41FA5}">
                      <a16:colId xmlns:a16="http://schemas.microsoft.com/office/drawing/2014/main" val="160911667"/>
                    </a:ext>
                  </a:extLst>
                </a:gridCol>
                <a:gridCol w="4064000">
                  <a:extLst>
                    <a:ext uri="{9D8B030D-6E8A-4147-A177-3AD203B41FA5}">
                      <a16:colId xmlns:a16="http://schemas.microsoft.com/office/drawing/2014/main" val="2516320921"/>
                    </a:ext>
                  </a:extLst>
                </a:gridCol>
              </a:tblGrid>
              <a:tr h="728664">
                <a:tc>
                  <a:txBody>
                    <a:bodyPr/>
                    <a:lstStyle/>
                    <a:p>
                      <a:pPr algn="l"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l" latinLnBrk="1"/>
                      <a:r>
                        <a:rPr lang="en-US" altLang="ko-KR" sz="1600" dirty="0">
                          <a:solidFill>
                            <a:schemeClr val="tx1"/>
                          </a:solidFill>
                          <a:latin typeface="MS UI Gothic" panose="020B0600070205080204" pitchFamily="34" charset="-128"/>
                          <a:ea typeface="MS UI Gothic" panose="020B0600070205080204" pitchFamily="34" charset="-128"/>
                        </a:rPr>
                        <a:t>OSRND USA, INC</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1022 HILLCREST PKWY</a:t>
                      </a:r>
                    </a:p>
                    <a:p>
                      <a:pPr algn="l" latinLnBrk="1"/>
                      <a:r>
                        <a:rPr lang="en-US" altLang="ko-KR" sz="1000" b="0" dirty="0">
                          <a:solidFill>
                            <a:schemeClr val="tx1"/>
                          </a:solidFill>
                          <a:latin typeface="MS UI Gothic" panose="020B0600070205080204" pitchFamily="34" charset="-128"/>
                          <a:ea typeface="MS UI Gothic" panose="020B0600070205080204" pitchFamily="34" charset="-128"/>
                        </a:rPr>
                        <a:t>DUBLIN, GA 31021</a:t>
                      </a:r>
                      <a:endParaRPr lang="ko-KR" altLang="en-US" sz="1000" b="0" dirty="0">
                        <a:solidFill>
                          <a:schemeClr val="tx1"/>
                        </a:solidFill>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ct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tc>
                  <a:txBody>
                    <a:bodyPr/>
                    <a:lstStyle/>
                    <a:p>
                      <a:pPr algn="r" latinLnBrk="1"/>
                      <a:endParaRPr lang="ko-KR" altLang="en-US" dirty="0">
                        <a:latin typeface="MS UI Gothic" panose="020B0600070205080204" pitchFamily="34" charset="-128"/>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5343"/>
                  </a:ext>
                </a:extLst>
              </a:tr>
            </a:tbl>
          </a:graphicData>
        </a:graphic>
      </p:graphicFrame>
      <p:pic>
        <p:nvPicPr>
          <p:cNvPr id="5" name="그림 4">
            <a:extLst>
              <a:ext uri="{FF2B5EF4-FFF2-40B4-BE49-F238E27FC236}">
                <a16:creationId xmlns:a16="http://schemas.microsoft.com/office/drawing/2014/main" id="{912710B1-CFE4-FD2B-A060-5BFB9F412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6" y="48674"/>
            <a:ext cx="986004" cy="631314"/>
          </a:xfrm>
          <a:prstGeom prst="rect">
            <a:avLst/>
          </a:prstGeom>
        </p:spPr>
      </p:pic>
      <p:graphicFrame>
        <p:nvGraphicFramePr>
          <p:cNvPr id="2" name="표 1">
            <a:extLst>
              <a:ext uri="{FF2B5EF4-FFF2-40B4-BE49-F238E27FC236}">
                <a16:creationId xmlns:a16="http://schemas.microsoft.com/office/drawing/2014/main" id="{1261FA73-7CA7-DA55-B24A-B07D3EB2AB25}"/>
              </a:ext>
            </a:extLst>
          </p:cNvPr>
          <p:cNvGraphicFramePr>
            <a:graphicFrameLocks noGrp="1"/>
          </p:cNvGraphicFramePr>
          <p:nvPr/>
        </p:nvGraphicFramePr>
        <p:xfrm>
          <a:off x="0" y="6489700"/>
          <a:ext cx="12191998" cy="368300"/>
        </p:xfrm>
        <a:graphic>
          <a:graphicData uri="http://schemas.openxmlformats.org/drawingml/2006/table">
            <a:tbl>
              <a:tblPr firstRow="1" bandRow="1">
                <a:tableStyleId>{5C22544A-7EE6-4342-B048-85BDC9FD1C3A}</a:tableStyleId>
              </a:tblPr>
              <a:tblGrid>
                <a:gridCol w="12191998">
                  <a:extLst>
                    <a:ext uri="{9D8B030D-6E8A-4147-A177-3AD203B41FA5}">
                      <a16:colId xmlns:a16="http://schemas.microsoft.com/office/drawing/2014/main" val="3978095594"/>
                    </a:ext>
                  </a:extLst>
                </a:gridCol>
              </a:tblGrid>
              <a:tr h="368300">
                <a:tc>
                  <a:txBody>
                    <a:bodyPr/>
                    <a:lstStyle/>
                    <a:p>
                      <a:pPr algn="r" latinLnBrk="1"/>
                      <a:r>
                        <a:rPr lang="en-US" altLang="ko-KR" sz="1100" b="0" i="0" dirty="0">
                          <a:solidFill>
                            <a:schemeClr val="tx1"/>
                          </a:solidFill>
                          <a:latin typeface="MS UI Gothic" panose="020B0600070205080204" pitchFamily="34" charset="-128"/>
                        </a:rPr>
                        <a:t>Business Plan for OSRND USA, INC</a:t>
                      </a:r>
                      <a:endParaRPr lang="ko-KR" altLang="en-US" sz="1100" b="0" i="0" dirty="0">
                        <a:solidFill>
                          <a:schemeClr val="tx1"/>
                        </a:solidFill>
                        <a:latin typeface="MS UI Gothic" panose="020B0600070205080204" pitchFamily="34" charset="-128"/>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94993156"/>
                  </a:ext>
                </a:extLst>
              </a:tr>
            </a:tbl>
          </a:graphicData>
        </a:graphic>
      </p:graphicFrame>
      <p:graphicFrame>
        <p:nvGraphicFramePr>
          <p:cNvPr id="6" name="표 5">
            <a:extLst>
              <a:ext uri="{FF2B5EF4-FFF2-40B4-BE49-F238E27FC236}">
                <a16:creationId xmlns:a16="http://schemas.microsoft.com/office/drawing/2014/main" id="{91E5C4F2-0002-A980-7304-C6A654EAAD89}"/>
              </a:ext>
            </a:extLst>
          </p:cNvPr>
          <p:cNvGraphicFramePr>
            <a:graphicFrameLocks noGrp="1"/>
          </p:cNvGraphicFramePr>
          <p:nvPr>
            <p:extLst>
              <p:ext uri="{D42A27DB-BD31-4B8C-83A1-F6EECF244321}">
                <p14:modId xmlns:p14="http://schemas.microsoft.com/office/powerpoint/2010/main" val="189164697"/>
              </p:ext>
            </p:extLst>
          </p:nvPr>
        </p:nvGraphicFramePr>
        <p:xfrm>
          <a:off x="515939" y="908050"/>
          <a:ext cx="11160124" cy="358771"/>
        </p:xfrm>
        <a:graphic>
          <a:graphicData uri="http://schemas.openxmlformats.org/drawingml/2006/table">
            <a:tbl>
              <a:tblPr firstRow="1" bandRow="1">
                <a:tableStyleId>{5C22544A-7EE6-4342-B048-85BDC9FD1C3A}</a:tableStyleId>
              </a:tblPr>
              <a:tblGrid>
                <a:gridCol w="5580062">
                  <a:extLst>
                    <a:ext uri="{9D8B030D-6E8A-4147-A177-3AD203B41FA5}">
                      <a16:colId xmlns:a16="http://schemas.microsoft.com/office/drawing/2014/main" val="3305484616"/>
                    </a:ext>
                  </a:extLst>
                </a:gridCol>
                <a:gridCol w="5580062">
                  <a:extLst>
                    <a:ext uri="{9D8B030D-6E8A-4147-A177-3AD203B41FA5}">
                      <a16:colId xmlns:a16="http://schemas.microsoft.com/office/drawing/2014/main" val="1781664049"/>
                    </a:ext>
                  </a:extLst>
                </a:gridCol>
              </a:tblGrid>
              <a:tr h="358771">
                <a:tc>
                  <a:txBody>
                    <a:bodyP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solidFill>
                          <a:effectLst/>
                          <a:uLnTx/>
                          <a:uFillTx/>
                          <a:latin typeface="+mn-lt"/>
                          <a:ea typeface="+mn-ea"/>
                          <a:cs typeface="+mn-cs"/>
                        </a:rPr>
                        <a:t>7. </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조직도 </a:t>
                      </a:r>
                      <a:r>
                        <a:rPr kumimoji="0" lang="en-US" altLang="ko-KR" sz="1600" b="0" i="0" u="none" strike="noStrike" kern="1200" cap="none" spc="0" normalizeH="0" baseline="0" noProof="0" dirty="0">
                          <a:ln>
                            <a:noFill/>
                          </a:ln>
                          <a:solidFill>
                            <a:prstClr val="white"/>
                          </a:solidFill>
                          <a:effectLst/>
                          <a:uLnTx/>
                          <a:uFillTx/>
                          <a:latin typeface="+mn-lt"/>
                          <a:ea typeface="+mn-ea"/>
                          <a:cs typeface="+mn-cs"/>
                        </a:rPr>
                        <a:t>(</a:t>
                      </a:r>
                      <a:r>
                        <a:rPr kumimoji="0" lang="ko-KR" altLang="en-US" sz="1600" b="0" i="0" u="none" strike="noStrike" kern="1200" cap="none" spc="0" normalizeH="0" baseline="0" noProof="0" dirty="0">
                          <a:ln>
                            <a:noFill/>
                          </a:ln>
                          <a:solidFill>
                            <a:prstClr val="white"/>
                          </a:solidFill>
                          <a:effectLst/>
                          <a:uLnTx/>
                          <a:uFillTx/>
                          <a:latin typeface="+mn-lt"/>
                          <a:ea typeface="+mn-ea"/>
                          <a:cs typeface="+mn-cs"/>
                        </a:rPr>
                        <a:t>예상</a:t>
                      </a:r>
                      <a:r>
                        <a:rPr kumimoji="0" lang="en-US" altLang="ko-KR" sz="1600" b="0" i="0" u="none" strike="noStrike" kern="1200" cap="none" spc="0" normalizeH="0" baseline="0" noProof="0" dirty="0">
                          <a:ln>
                            <a:noFill/>
                          </a:ln>
                          <a:solidFill>
                            <a:prstClr val="white"/>
                          </a:solidFill>
                          <a:effectLst/>
                          <a:uLnTx/>
                          <a:uFillTx/>
                          <a:latin typeface="+mn-lt"/>
                          <a:ea typeface="+mn-ea"/>
                          <a:cs typeface="+mn-cs"/>
                        </a:rPr>
                        <a:t>)</a:t>
                      </a:r>
                      <a:endParaRPr kumimoji="0" lang="ko-KR" altLang="en-US" sz="1600" b="0" i="0" u="none" strike="noStrike" kern="1200" cap="none" spc="0" normalizeH="0" baseline="0" noProof="0" dirty="0">
                        <a:ln>
                          <a:noFill/>
                        </a:ln>
                        <a:solidFill>
                          <a:prstClr val="white"/>
                        </a:solidFill>
                        <a:effectLst/>
                        <a:uLnTx/>
                        <a:uFillTx/>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r" latinLnBrk="1"/>
                      <a:r>
                        <a:rPr lang="ko-KR" altLang="en-US" sz="1400" dirty="0"/>
                        <a:t>단위 </a:t>
                      </a:r>
                      <a:r>
                        <a:rPr lang="en-US" altLang="ko-KR" sz="1400" dirty="0"/>
                        <a:t>: 1,000 USD</a:t>
                      </a:r>
                      <a:endParaRPr lang="ko-KR"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799694079"/>
                  </a:ext>
                </a:extLst>
              </a:tr>
            </a:tbl>
          </a:graphicData>
        </a:graphic>
      </p:graphicFrame>
      <p:graphicFrame>
        <p:nvGraphicFramePr>
          <p:cNvPr id="3" name="표 2">
            <a:extLst>
              <a:ext uri="{FF2B5EF4-FFF2-40B4-BE49-F238E27FC236}">
                <a16:creationId xmlns:a16="http://schemas.microsoft.com/office/drawing/2014/main" id="{55E77053-ABEB-48B2-92BC-256B8CA2FFDD}"/>
              </a:ext>
            </a:extLst>
          </p:cNvPr>
          <p:cNvGraphicFramePr>
            <a:graphicFrameLocks noGrp="1"/>
          </p:cNvGraphicFramePr>
          <p:nvPr>
            <p:extLst>
              <p:ext uri="{D42A27DB-BD31-4B8C-83A1-F6EECF244321}">
                <p14:modId xmlns:p14="http://schemas.microsoft.com/office/powerpoint/2010/main" val="185172220"/>
              </p:ext>
            </p:extLst>
          </p:nvPr>
        </p:nvGraphicFramePr>
        <p:xfrm>
          <a:off x="515939" y="1449387"/>
          <a:ext cx="11160127" cy="4859339"/>
        </p:xfrm>
        <a:graphic>
          <a:graphicData uri="http://schemas.openxmlformats.org/drawingml/2006/table">
            <a:tbl>
              <a:tblPr/>
              <a:tblGrid>
                <a:gridCol w="1014557">
                  <a:extLst>
                    <a:ext uri="{9D8B030D-6E8A-4147-A177-3AD203B41FA5}">
                      <a16:colId xmlns:a16="http://schemas.microsoft.com/office/drawing/2014/main" val="616312215"/>
                    </a:ext>
                  </a:extLst>
                </a:gridCol>
                <a:gridCol w="1014557">
                  <a:extLst>
                    <a:ext uri="{9D8B030D-6E8A-4147-A177-3AD203B41FA5}">
                      <a16:colId xmlns:a16="http://schemas.microsoft.com/office/drawing/2014/main" val="1839038881"/>
                    </a:ext>
                  </a:extLst>
                </a:gridCol>
                <a:gridCol w="1014557">
                  <a:extLst>
                    <a:ext uri="{9D8B030D-6E8A-4147-A177-3AD203B41FA5}">
                      <a16:colId xmlns:a16="http://schemas.microsoft.com/office/drawing/2014/main" val="772847164"/>
                    </a:ext>
                  </a:extLst>
                </a:gridCol>
                <a:gridCol w="1014557">
                  <a:extLst>
                    <a:ext uri="{9D8B030D-6E8A-4147-A177-3AD203B41FA5}">
                      <a16:colId xmlns:a16="http://schemas.microsoft.com/office/drawing/2014/main" val="1318560679"/>
                    </a:ext>
                  </a:extLst>
                </a:gridCol>
                <a:gridCol w="1014557">
                  <a:extLst>
                    <a:ext uri="{9D8B030D-6E8A-4147-A177-3AD203B41FA5}">
                      <a16:colId xmlns:a16="http://schemas.microsoft.com/office/drawing/2014/main" val="1202538953"/>
                    </a:ext>
                  </a:extLst>
                </a:gridCol>
                <a:gridCol w="1014557">
                  <a:extLst>
                    <a:ext uri="{9D8B030D-6E8A-4147-A177-3AD203B41FA5}">
                      <a16:colId xmlns:a16="http://schemas.microsoft.com/office/drawing/2014/main" val="1756284068"/>
                    </a:ext>
                  </a:extLst>
                </a:gridCol>
                <a:gridCol w="1014557">
                  <a:extLst>
                    <a:ext uri="{9D8B030D-6E8A-4147-A177-3AD203B41FA5}">
                      <a16:colId xmlns:a16="http://schemas.microsoft.com/office/drawing/2014/main" val="2228534037"/>
                    </a:ext>
                  </a:extLst>
                </a:gridCol>
                <a:gridCol w="1014557">
                  <a:extLst>
                    <a:ext uri="{9D8B030D-6E8A-4147-A177-3AD203B41FA5}">
                      <a16:colId xmlns:a16="http://schemas.microsoft.com/office/drawing/2014/main" val="2672757144"/>
                    </a:ext>
                  </a:extLst>
                </a:gridCol>
                <a:gridCol w="1014557">
                  <a:extLst>
                    <a:ext uri="{9D8B030D-6E8A-4147-A177-3AD203B41FA5}">
                      <a16:colId xmlns:a16="http://schemas.microsoft.com/office/drawing/2014/main" val="288291353"/>
                    </a:ext>
                  </a:extLst>
                </a:gridCol>
                <a:gridCol w="1014557">
                  <a:extLst>
                    <a:ext uri="{9D8B030D-6E8A-4147-A177-3AD203B41FA5}">
                      <a16:colId xmlns:a16="http://schemas.microsoft.com/office/drawing/2014/main" val="155608505"/>
                    </a:ext>
                  </a:extLst>
                </a:gridCol>
                <a:gridCol w="1014557">
                  <a:extLst>
                    <a:ext uri="{9D8B030D-6E8A-4147-A177-3AD203B41FA5}">
                      <a16:colId xmlns:a16="http://schemas.microsoft.com/office/drawing/2014/main" val="1292418930"/>
                    </a:ext>
                  </a:extLst>
                </a:gridCol>
              </a:tblGrid>
              <a:tr h="247931">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Country Director</a:t>
                      </a:r>
                      <a:endParaRPr lang="en-US" sz="700" kern="0" spc="0">
                        <a:solidFill>
                          <a:srgbClr val="000000"/>
                        </a:solidFill>
                        <a:effectLst/>
                        <a:latin typeface="Cambria" panose="02040503050406030204" pitchFamily="18" charset="0"/>
                      </a:endParaRPr>
                    </a:p>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(Dispatched Employee)</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rowSpan="2" gridSpan="2">
                  <a:txBody>
                    <a:bodyPr/>
                    <a:lstStyle/>
                    <a:p>
                      <a:pPr marL="63500" marR="0" indent="-63500" algn="ctr" fontAlgn="base" latinLnBrk="0">
                        <a:lnSpc>
                          <a:spcPct val="100000"/>
                        </a:lnSpc>
                        <a:spcAft>
                          <a:spcPts val="1000"/>
                        </a:spcAft>
                        <a:buNone/>
                      </a:pPr>
                      <a:r>
                        <a:rPr lang="en-US" sz="800" kern="0" spc="0">
                          <a:solidFill>
                            <a:srgbClr val="000000"/>
                          </a:solidFill>
                          <a:effectLst/>
                          <a:latin typeface="Cambria" panose="02040503050406030204" pitchFamily="18" charset="0"/>
                          <a:ea typeface="맑은 고딕" panose="020B0503020000020004" pitchFamily="50" charset="-127"/>
                        </a:rPr>
                        <a:t>Secretary</a:t>
                      </a:r>
                      <a:endParaRPr lang="en-US" sz="800" kern="0" spc="0">
                        <a:solidFill>
                          <a:srgbClr val="000000"/>
                        </a:solidFill>
                        <a:effectLst/>
                        <a:latin typeface="Cambria" panose="02040503050406030204" pitchFamily="18" charset="0"/>
                      </a:endParaRPr>
                    </a:p>
                    <a:p>
                      <a:pPr marL="63500" marR="0" indent="-63500" algn="ctr" fontAlgn="base" latinLnBrk="0">
                        <a:lnSpc>
                          <a:spcPct val="100000"/>
                        </a:lnSpc>
                        <a:spcAft>
                          <a:spcPts val="1000"/>
                        </a:spcAft>
                        <a:buNone/>
                      </a:pPr>
                      <a:r>
                        <a:rPr lang="en-US" sz="800" kern="0" spc="0">
                          <a:solidFill>
                            <a:srgbClr val="000000"/>
                          </a:solidFill>
                          <a:effectLst/>
                          <a:latin typeface="Cambria" panose="02040503050406030204" pitchFamily="18" charset="0"/>
                          <a:ea typeface="맑은 고딕" panose="020B0503020000020004" pitchFamily="50" charset="-127"/>
                        </a:rPr>
                        <a:t>(Locally Hired Staff)</a:t>
                      </a:r>
                      <a:endParaRPr lang="en-US" sz="8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dirty="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extLst>
                  <a:ext uri="{0D108BD9-81ED-4DB2-BD59-A6C34878D82A}">
                    <a16:rowId xmlns:a16="http://schemas.microsoft.com/office/drawing/2014/main" val="2257376543"/>
                  </a:ext>
                </a:extLst>
              </a:tr>
              <a:tr h="247931">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l"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extLst>
                  <a:ext uri="{0D108BD9-81ED-4DB2-BD59-A6C34878D82A}">
                    <a16:rowId xmlns:a16="http://schemas.microsoft.com/office/drawing/2014/main" val="3631213402"/>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extLst>
                  <a:ext uri="{0D108BD9-81ED-4DB2-BD59-A6C34878D82A}">
                    <a16:rowId xmlns:a16="http://schemas.microsoft.com/office/drawing/2014/main" val="3179631134"/>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dirty="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2385" cap="flat" cmpd="thickThin" algn="ctr">
                      <a:solidFill>
                        <a:srgbClr val="000000"/>
                      </a:solidFill>
                      <a:prstDash val="solid"/>
                      <a:round/>
                      <a:headEnd type="none" w="med" len="med"/>
                      <a:tailEnd type="none" w="med" len="med"/>
                    </a:lnB>
                    <a:noFill/>
                  </a:tcPr>
                </a:tc>
                <a:extLst>
                  <a:ext uri="{0D108BD9-81ED-4DB2-BD59-A6C34878D82A}">
                    <a16:rowId xmlns:a16="http://schemas.microsoft.com/office/drawing/2014/main" val="210633609"/>
                  </a:ext>
                </a:extLst>
              </a:tr>
              <a:tr h="247931">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Corporate Training Division</a:t>
                      </a:r>
                      <a:endParaRPr lang="en-US" sz="700" kern="0" spc="0">
                        <a:solidFill>
                          <a:srgbClr val="000000"/>
                        </a:solidFill>
                        <a:effectLst/>
                        <a:latin typeface="Cambria" panose="02040503050406030204" pitchFamily="18" charset="0"/>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dirty="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Alabama Site</a:t>
                      </a:r>
                      <a:endParaRPr lang="en-US" sz="700" kern="0" spc="0">
                        <a:solidFill>
                          <a:srgbClr val="000000"/>
                        </a:solidFill>
                        <a:effectLst/>
                        <a:latin typeface="Cambria" panose="02040503050406030204" pitchFamily="18" charset="0"/>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Georgia Site</a:t>
                      </a:r>
                      <a:endParaRPr lang="en-US" sz="700" kern="0" spc="0">
                        <a:solidFill>
                          <a:srgbClr val="000000"/>
                        </a:solidFill>
                        <a:effectLst/>
                        <a:latin typeface="Cambria" panose="02040503050406030204" pitchFamily="18" charset="0"/>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In-house Product Team</a:t>
                      </a:r>
                      <a:endParaRPr lang="en-US" sz="700" kern="0" spc="0">
                        <a:solidFill>
                          <a:srgbClr val="000000"/>
                        </a:solidFill>
                        <a:effectLst/>
                        <a:latin typeface="Cambria" panose="02040503050406030204" pitchFamily="18" charset="0"/>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w="32385" cap="flat" cmpd="thickThin"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extLst>
                  <a:ext uri="{0D108BD9-81ED-4DB2-BD59-A6C34878D82A}">
                    <a16:rowId xmlns:a16="http://schemas.microsoft.com/office/drawing/2014/main" val="2509334543"/>
                  </a:ext>
                </a:extLst>
              </a:tr>
              <a:tr h="247931">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2385" cap="flat" cmpd="thickThin" algn="ctr">
                      <a:solidFill>
                        <a:srgbClr val="000000"/>
                      </a:solidFill>
                      <a:prstDash val="solid"/>
                      <a:round/>
                      <a:headEnd type="none" w="med" len="med"/>
                      <a:tailEnd type="none" w="med" len="med"/>
                    </a:lnL>
                    <a:lnR w="32385" cap="flat" cmpd="thickThin"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2395700561"/>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2385" cap="flat" cmpd="thickThin"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2385" cap="flat" cmpd="thickThin"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729372476"/>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1082533"/>
                  </a:ext>
                </a:extLst>
              </a:tr>
              <a:tr h="247931">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Technical Training Representative </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General Manager</a:t>
                      </a:r>
                      <a:endParaRPr lang="en-US" sz="700" kern="0" spc="0">
                        <a:solidFill>
                          <a:srgbClr val="000000"/>
                        </a:solidFill>
                        <a:effectLst/>
                        <a:latin typeface="Cambria" panose="02040503050406030204" pitchFamily="18" charset="0"/>
                      </a:endParaRPr>
                    </a:p>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(Hiring Local Talent)</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General Manager</a:t>
                      </a:r>
                      <a:endParaRPr lang="en-US" sz="700" kern="0" spc="0">
                        <a:solidFill>
                          <a:srgbClr val="000000"/>
                        </a:solidFill>
                        <a:effectLst/>
                        <a:latin typeface="Cambria" panose="02040503050406030204" pitchFamily="18" charset="0"/>
                      </a:endParaRPr>
                    </a:p>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(Hiring Local Talent)</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General Manager</a:t>
                      </a:r>
                      <a:endParaRPr lang="en-US" sz="700" kern="0" spc="0">
                        <a:solidFill>
                          <a:srgbClr val="000000"/>
                        </a:solidFill>
                        <a:effectLst/>
                        <a:latin typeface="Cambria" panose="02040503050406030204" pitchFamily="18" charset="0"/>
                      </a:endParaRPr>
                    </a:p>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(Hiring Local Talent)</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extLst>
                  <a:ext uri="{0D108BD9-81ED-4DB2-BD59-A6C34878D82A}">
                    <a16:rowId xmlns:a16="http://schemas.microsoft.com/office/drawing/2014/main" val="3903874195"/>
                  </a:ext>
                </a:extLst>
              </a:tr>
              <a:tr h="247931">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253993258"/>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w="3556"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85330646"/>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a:noFill/>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w="3556" cap="flat" cmpd="sng" algn="ctr">
                      <a:solidFill>
                        <a:srgbClr val="000000"/>
                      </a:solidFill>
                      <a:prstDash val="solid"/>
                      <a:round/>
                      <a:headEnd type="none" w="med" len="med"/>
                      <a:tailEnd type="none" w="med" len="med"/>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a:noFill/>
                    </a:lnR>
                    <a:lnT>
                      <a:noFill/>
                    </a:lnT>
                    <a:lnB w="355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0919117"/>
                  </a:ext>
                </a:extLst>
              </a:tr>
              <a:tr h="247931">
                <a:tc rowSpan="2" gridSpan="2">
                  <a:txBody>
                    <a:bodyPr/>
                    <a:lstStyle/>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Senior Staff</a:t>
                      </a:r>
                      <a:endParaRPr lang="en-US" sz="700" kern="0" spc="0">
                        <a:solidFill>
                          <a:srgbClr val="000000"/>
                        </a:solidFill>
                        <a:effectLst/>
                        <a:latin typeface="Cambria" panose="02040503050406030204" pitchFamily="18" charset="0"/>
                      </a:endParaRPr>
                    </a:p>
                    <a:p>
                      <a:pPr marL="0" marR="0" indent="0" algn="ctr" fontAlgn="base" latinLnBrk="0">
                        <a:lnSpc>
                          <a:spcPct val="115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(Dispatched Employees and Local Employees)</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00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Staff / Associate</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00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Staff / Associate</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rowSpan="2" gridSpan="2">
                  <a:txBody>
                    <a:bodyPr/>
                    <a:lstStyle/>
                    <a:p>
                      <a:pPr marL="0" marR="0" indent="0" algn="ctr" fontAlgn="base" latinLnBrk="0">
                        <a:lnSpc>
                          <a:spcPct val="100000"/>
                        </a:lnSpc>
                        <a:spcAft>
                          <a:spcPts val="1000"/>
                        </a:spcAft>
                        <a:buNone/>
                      </a:pPr>
                      <a:r>
                        <a:rPr lang="en-US" sz="700" kern="0" spc="0">
                          <a:solidFill>
                            <a:srgbClr val="000000"/>
                          </a:solidFill>
                          <a:effectLst/>
                          <a:latin typeface="Cambria" panose="02040503050406030204" pitchFamily="18" charset="0"/>
                          <a:ea typeface="맑은 고딕" panose="020B0503020000020004" pitchFamily="50" charset="-127"/>
                        </a:rPr>
                        <a:t>Staff / Associate</a:t>
                      </a:r>
                      <a:endParaRPr lang="en-US" sz="700" kern="0" spc="0">
                        <a:solidFill>
                          <a:srgbClr val="000000"/>
                        </a:solidFill>
                        <a:effectLst/>
                        <a:latin typeface="Cambria" panose="02040503050406030204" pitchFamily="18" charset="0"/>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rowSpan="2" hMerge="1">
                  <a:txBody>
                    <a:bodyPr/>
                    <a:lstStyle/>
                    <a:p>
                      <a:pPr latinLnBrk="1"/>
                      <a:endParaRPr lang="ko-KR" altLang="en-US"/>
                    </a:p>
                  </a:txBody>
                  <a:tcPr/>
                </a:tc>
                <a:extLst>
                  <a:ext uri="{0D108BD9-81ED-4DB2-BD59-A6C34878D82A}">
                    <a16:rowId xmlns:a16="http://schemas.microsoft.com/office/drawing/2014/main" val="38794520"/>
                  </a:ext>
                </a:extLst>
              </a:tr>
              <a:tr h="333157">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a:noFill/>
                    </a:lnT>
                    <a:lnB>
                      <a:noFill/>
                    </a:lnB>
                    <a:no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883007783"/>
                  </a:ext>
                </a:extLst>
              </a:tr>
              <a:tr h="247931">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a:noFill/>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a:txBody>
                    <a:bodyPr/>
                    <a:lstStyle/>
                    <a:p>
                      <a:pPr marL="0" marR="0" indent="0" algn="ctr" fontAlgn="base" latinLnBrk="0">
                        <a:lnSpc>
                          <a:spcPct val="115000"/>
                        </a:lnSpc>
                        <a:spcAft>
                          <a:spcPts val="1000"/>
                        </a:spcAft>
                        <a:buNone/>
                      </a:pPr>
                      <a:endParaRPr lang="ko-KR" altLang="en-US" sz="700" kern="0" spc="0">
                        <a:solidFill>
                          <a:srgbClr val="000000"/>
                        </a:solidFill>
                        <a:effectLst/>
                        <a:latin typeface="Cambria" panose="02040503050406030204" pitchFamily="18" charset="0"/>
                        <a:ea typeface="맑은 고딕" panose="020B0503020000020004" pitchFamily="50" charset="-127"/>
                      </a:endParaRPr>
                    </a:p>
                  </a:txBody>
                  <a:tcPr marL="59112" marR="59112" marT="16343" marB="16343" anchor="ctr">
                    <a:lnL>
                      <a:noFill/>
                    </a:lnL>
                    <a:lnR>
                      <a:noFill/>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3230580"/>
                  </a:ext>
                </a:extLst>
              </a:tr>
              <a:tr h="1055148">
                <a:tc gridSpan="11">
                  <a:txBody>
                    <a:bodyPr/>
                    <a:lstStyle/>
                    <a:p>
                      <a:pPr marL="0" marR="0" indent="0" algn="l" fontAlgn="base" latinLnBrk="0">
                        <a:lnSpc>
                          <a:spcPct val="100000"/>
                        </a:lnSpc>
                        <a:spcAft>
                          <a:spcPts val="1000"/>
                        </a:spcAft>
                        <a:buNone/>
                      </a:pPr>
                      <a:r>
                        <a:rPr lang="en-US" sz="700" kern="0" spc="0" dirty="0">
                          <a:solidFill>
                            <a:srgbClr val="000000"/>
                          </a:solidFill>
                          <a:effectLst/>
                          <a:latin typeface="Cambria" panose="02040503050406030204" pitchFamily="18" charset="0"/>
                          <a:ea typeface="맑은 고딕" panose="020B0503020000020004" pitchFamily="50" charset="-127"/>
                        </a:rPr>
                        <a:t>1. During the early stage, sales will be overseen by the Country Director.</a:t>
                      </a:r>
                      <a:endParaRPr lang="en-US" sz="700" kern="0" spc="0" dirty="0">
                        <a:solidFill>
                          <a:srgbClr val="000000"/>
                        </a:solidFill>
                        <a:effectLst/>
                        <a:latin typeface="Cambria" panose="02040503050406030204" pitchFamily="18" charset="0"/>
                      </a:endParaRPr>
                    </a:p>
                    <a:p>
                      <a:pPr marL="0" marR="0" indent="0" algn="l" fontAlgn="base" latinLnBrk="0">
                        <a:lnSpc>
                          <a:spcPct val="100000"/>
                        </a:lnSpc>
                        <a:spcAft>
                          <a:spcPts val="1000"/>
                        </a:spcAft>
                        <a:buNone/>
                      </a:pPr>
                      <a:r>
                        <a:rPr lang="en-US" sz="700" kern="0" spc="0" dirty="0">
                          <a:solidFill>
                            <a:srgbClr val="000000"/>
                          </a:solidFill>
                          <a:effectLst/>
                          <a:latin typeface="Cambria" panose="02040503050406030204" pitchFamily="18" charset="0"/>
                          <a:ea typeface="맑은 고딕" panose="020B0503020000020004" pitchFamily="50" charset="-127"/>
                        </a:rPr>
                        <a:t>2. Training of local employees will be handled by the Technical Training Representative.</a:t>
                      </a:r>
                      <a:endParaRPr lang="en-US" sz="700" kern="0" spc="0" dirty="0">
                        <a:solidFill>
                          <a:srgbClr val="000000"/>
                        </a:solidFill>
                        <a:effectLst/>
                        <a:latin typeface="Cambria" panose="02040503050406030204" pitchFamily="18" charset="0"/>
                      </a:endParaRPr>
                    </a:p>
                    <a:p>
                      <a:pPr marL="0" marR="0" indent="0" algn="l" fontAlgn="base" latinLnBrk="0">
                        <a:lnSpc>
                          <a:spcPct val="100000"/>
                        </a:lnSpc>
                        <a:spcAft>
                          <a:spcPts val="1000"/>
                        </a:spcAft>
                        <a:buNone/>
                      </a:pPr>
                      <a:r>
                        <a:rPr lang="en-US" sz="700" kern="0" spc="0" dirty="0">
                          <a:solidFill>
                            <a:srgbClr val="000000"/>
                          </a:solidFill>
                          <a:effectLst/>
                          <a:latin typeface="Cambria" panose="02040503050406030204" pitchFamily="18" charset="0"/>
                          <a:ea typeface="맑은 고딕" panose="020B0503020000020004" pitchFamily="50" charset="-127"/>
                        </a:rPr>
                        <a:t>3. Education will be delivered in stages, from basic to advanced levels.</a:t>
                      </a:r>
                      <a:endParaRPr lang="en-US" sz="700" kern="0" spc="0" dirty="0">
                        <a:solidFill>
                          <a:srgbClr val="000000"/>
                        </a:solidFill>
                        <a:effectLst/>
                        <a:latin typeface="Cambria" panose="02040503050406030204" pitchFamily="18" charset="0"/>
                      </a:endParaRPr>
                    </a:p>
                    <a:p>
                      <a:pPr marL="99060" marR="0" indent="-99060" algn="l" fontAlgn="base" latinLnBrk="0">
                        <a:lnSpc>
                          <a:spcPct val="100000"/>
                        </a:lnSpc>
                        <a:spcAft>
                          <a:spcPts val="1000"/>
                        </a:spcAft>
                        <a:buNone/>
                      </a:pPr>
                      <a:r>
                        <a:rPr lang="en-US" sz="700" kern="0" spc="0" dirty="0">
                          <a:solidFill>
                            <a:srgbClr val="000000"/>
                          </a:solidFill>
                          <a:effectLst/>
                          <a:latin typeface="Cambria" panose="02040503050406030204" pitchFamily="18" charset="0"/>
                          <a:ea typeface="맑은 고딕" panose="020B0503020000020004" pitchFamily="50" charset="-127"/>
                        </a:rPr>
                        <a:t>4. As part of the rollout plan, the organizational formation will begin with the Alabama site in Year 1, followed by the Georgia facility in Year 2, and culminate in the establishment of an in-house product development team.</a:t>
                      </a:r>
                      <a:endParaRPr lang="en-US" sz="700" kern="0" spc="0" dirty="0">
                        <a:solidFill>
                          <a:srgbClr val="000000"/>
                        </a:solidFill>
                        <a:effectLst/>
                        <a:latin typeface="Cambria" panose="02040503050406030204" pitchFamily="18" charset="0"/>
                      </a:endParaRPr>
                    </a:p>
                  </a:txBody>
                  <a:tcPr marL="59112" marR="59112" marT="16343" marB="16343">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42253847"/>
                  </a:ext>
                </a:extLst>
              </a:tr>
            </a:tbl>
          </a:graphicData>
        </a:graphic>
      </p:graphicFrame>
    </p:spTree>
    <p:extLst>
      <p:ext uri="{BB962C8B-B14F-4D97-AF65-F5344CB8AC3E}">
        <p14:creationId xmlns:p14="http://schemas.microsoft.com/office/powerpoint/2010/main" val="58310780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1651</TotalTime>
  <Words>860</Words>
  <Application>Microsoft Office PowerPoint</Application>
  <PresentationFormat>와이드스크린</PresentationFormat>
  <Paragraphs>222</Paragraphs>
  <Slides>8</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8</vt:i4>
      </vt:variant>
    </vt:vector>
  </HeadingPairs>
  <TitlesOfParts>
    <vt:vector size="14" baseType="lpstr">
      <vt:lpstr>MS UI Gothic</vt:lpstr>
      <vt:lpstr>맑은 고딕</vt:lpstr>
      <vt:lpstr>Arial</vt:lpstr>
      <vt:lpstr>Cambria</vt:lpstr>
      <vt:lpstr>Wingdings</vt:lpstr>
      <vt:lpstr>Office 테마</vt:lpstr>
      <vt:lpstr>BUSINESS PLAN for OSRND USA, INC</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PLAN for OSRND USA, INC</dc:title>
  <dc:creator>ohsoo Kwon</dc:creator>
  <cp:lastModifiedBy>aje</cp:lastModifiedBy>
  <cp:revision>3</cp:revision>
  <cp:lastPrinted>2025-08-24T06:56:58Z</cp:lastPrinted>
  <dcterms:created xsi:type="dcterms:W3CDTF">2025-08-01T05:12:01Z</dcterms:created>
  <dcterms:modified xsi:type="dcterms:W3CDTF">2026-03-27T00:16:44Z</dcterms:modified>
</cp:coreProperties>
</file>